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6E23A-5E28-C89F-622A-9110E9EFE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7F2C2-9423-3C93-2247-16F8345C9D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DD94F-B247-6011-B6EE-267E2D925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0F79-EA47-46FF-9C69-2097383D0B1F}" type="datetimeFigureOut">
              <a:rPr lang="th-TH" smtClean="0"/>
              <a:t>09/09/69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56461-2D0C-318F-525B-188C39808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15755-0B71-031B-C6CF-634C93348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63199-E964-41BA-80C6-8AA2F60BE76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23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804BE-A305-EFA3-2D1F-B219CF1B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A287C-B396-D368-7630-0D8059386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40B84-D287-D344-E526-B7251458B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0F79-EA47-46FF-9C69-2097383D0B1F}" type="datetimeFigureOut">
              <a:rPr lang="th-TH" smtClean="0"/>
              <a:t>09/09/69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5EB7F-559B-7EAD-2E3E-861BAF18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EAAF0-ADE6-8408-51B9-1CE4FF1DE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63199-E964-41BA-80C6-8AA2F60BE76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98242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A858F-490E-6E2E-B6D9-09F773BD2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D498A-E5A2-26F8-8486-782F62B2B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46AC1-5930-B072-B2D0-3B5E896FB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0F79-EA47-46FF-9C69-2097383D0B1F}" type="datetimeFigureOut">
              <a:rPr lang="th-TH" smtClean="0"/>
              <a:t>09/09/69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C6F86-E4C5-E857-5391-6C55CEFC3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E0986-6205-C3D8-7B08-62F6C1CDD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63199-E964-41BA-80C6-8AA2F60BE76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93597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2F82F-3251-A011-24C2-B72C48B1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C7C18-7F56-F6E3-D024-2A83FB1A0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9F0AE-6B98-DF3F-015E-403E35CEA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7463F-BAFD-2C94-863A-8195658CA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0F79-EA47-46FF-9C69-2097383D0B1F}" type="datetimeFigureOut">
              <a:rPr lang="th-TH" smtClean="0"/>
              <a:t>09/09/69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47DBB-33C6-81D5-4B54-2F7D10C9B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62074-1682-DBE3-0995-D22C36EA0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63199-E964-41BA-80C6-8AA2F60BE76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90070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67AB8-1039-8215-980C-C52E374DE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727E5-519A-8EEC-B818-4FC37D660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AD345-238C-CF4F-FADB-067868C57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E6A2A2-788F-7146-D3AB-F99CDAEA53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2B928B-0181-6F4C-9B32-F602FBA26A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48D6E4-2BBA-A449-F7EC-730B48805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0F79-EA47-46FF-9C69-2097383D0B1F}" type="datetimeFigureOut">
              <a:rPr lang="th-TH" smtClean="0"/>
              <a:t>09/09/69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734F30-4B41-B406-BDA0-A3995B280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90CC3F-34B7-8DFD-3714-A604E5E97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63199-E964-41BA-80C6-8AA2F60BE76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034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DE140-418E-4059-D405-AF9DC3D1D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AC7067-B4AA-C7FA-88FF-31AD71D63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0F79-EA47-46FF-9C69-2097383D0B1F}" type="datetimeFigureOut">
              <a:rPr lang="th-TH" smtClean="0"/>
              <a:t>09/09/69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E72DEB-D57F-0DA6-A3C5-42D1BA14E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0F120D-04C8-4DC8-7502-4FC58556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63199-E964-41BA-80C6-8AA2F60BE76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04225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B2DA7D-4A22-FAD2-2DA7-D34ACA76E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0F79-EA47-46FF-9C69-2097383D0B1F}" type="datetimeFigureOut">
              <a:rPr lang="th-TH" smtClean="0"/>
              <a:t>09/09/69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D635B-7AA8-C4A7-1B64-799DF0496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198B0-1FE9-8A0F-2BF1-2EF6860D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63199-E964-41BA-80C6-8AA2F60BE76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07796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53891-08F5-97FD-F710-118D6E1C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D9250-BED4-64DC-7413-77BB7A049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E424C-3BC1-478E-62ED-74A0D4653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23EC9-F130-9CED-F361-E05297713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0F79-EA47-46FF-9C69-2097383D0B1F}" type="datetimeFigureOut">
              <a:rPr lang="th-TH" smtClean="0"/>
              <a:t>09/09/69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DC5D5-4619-F481-5836-5D4B375F7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8D42D-D197-ACF4-BD18-929E239E6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63199-E964-41BA-80C6-8AA2F60BE76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44571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579E9-4506-692C-C2EA-5BF1304C1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A6B4B1-600E-5FA3-147C-2D86EB54F0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A1E24-CA07-ED43-6207-B71D13A4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FE0A6-6C7E-3A3C-E046-4715156E5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0F79-EA47-46FF-9C69-2097383D0B1F}" type="datetimeFigureOut">
              <a:rPr lang="th-TH" smtClean="0"/>
              <a:t>09/09/69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02975-D38A-52AE-A1B3-A962AC8AC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131DE-681F-63BC-AF2C-5B36B66EA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63199-E964-41BA-80C6-8AA2F60BE76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354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F8A9B-5016-1D8E-A2DB-CADFCCE82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FC653-2A52-F23B-2FF5-EC3DD42F4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9F1CB-9E0E-341B-DAB1-F9CEB0E9B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0F79-EA47-46FF-9C69-2097383D0B1F}" type="datetimeFigureOut">
              <a:rPr lang="th-TH" smtClean="0"/>
              <a:t>09/09/69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ED40B-A57D-D805-E0BF-AD03A2D18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D20D5-D99F-DD0D-2F33-CECAD1CAC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63199-E964-41BA-80C6-8AA2F60BE76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02303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E88BBD-94A3-0B58-2AB5-9AB5A5F364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CC456E-7AE7-9D95-09E2-E2D4BC485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6F9A9-9EB3-5061-D78C-D50B3939A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0F79-EA47-46FF-9C69-2097383D0B1F}" type="datetimeFigureOut">
              <a:rPr lang="th-TH" smtClean="0"/>
              <a:t>09/09/69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C2CED-38D0-809E-4F60-76335231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B10E2-71DA-D313-A24F-C2573B077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63199-E964-41BA-80C6-8AA2F60BE76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53401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857FFC-5CBA-C98D-5B80-2C4F604D1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B3DA0-01EE-6A5A-CBD7-39E6D9199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A2863-ED34-104E-0E66-AADD3E625E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A00F79-EA47-46FF-9C69-2097383D0B1F}" type="datetimeFigureOut">
              <a:rPr lang="th-TH" smtClean="0"/>
              <a:t>09/09/69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612CC-389E-9BE2-DBA6-C1EAC08513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0AB9-A13B-1556-B187-AF80032243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363199-E964-41BA-80C6-8AA2F60BE76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4850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C7F01E-2D22-A37C-F801-45C6003A2C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D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D981BFF-5085-AA5C-3D4C-78E9E028A184}"/>
              </a:ext>
            </a:extLst>
          </p:cNvPr>
          <p:cNvSpPr/>
          <p:nvPr/>
        </p:nvSpPr>
        <p:spPr>
          <a:xfrm>
            <a:off x="8445500" y="-1206500"/>
            <a:ext cx="4953000" cy="4953000"/>
          </a:xfrm>
          <a:prstGeom prst="ellipse">
            <a:avLst/>
          </a:prstGeom>
          <a:solidFill>
            <a:srgbClr val="0D7A4C">
              <a:alpha val="84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CA6719B-F1AC-2A13-E686-721889042439}"/>
              </a:ext>
            </a:extLst>
          </p:cNvPr>
          <p:cNvSpPr/>
          <p:nvPr/>
        </p:nvSpPr>
        <p:spPr>
          <a:xfrm>
            <a:off x="9652000" y="3683000"/>
            <a:ext cx="3048000" cy="3048000"/>
          </a:xfrm>
          <a:prstGeom prst="ellipse">
            <a:avLst/>
          </a:prstGeom>
          <a:solidFill>
            <a:srgbClr val="1DA163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CAC024-B227-9336-70C5-126EB6061EA2}"/>
              </a:ext>
            </a:extLst>
          </p:cNvPr>
          <p:cNvSpPr/>
          <p:nvPr/>
        </p:nvSpPr>
        <p:spPr>
          <a:xfrm>
            <a:off x="711200" y="736600"/>
            <a:ext cx="2857500" cy="317500"/>
          </a:xfrm>
          <a:prstGeom prst="roundRect">
            <a:avLst/>
          </a:prstGeom>
          <a:solidFill>
            <a:srgbClr val="DDF3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8D26EA-89DC-E3AD-A0E5-2A9CA0DB0FD6}"/>
              </a:ext>
            </a:extLst>
          </p:cNvPr>
          <p:cNvSpPr txBox="1"/>
          <p:nvPr/>
        </p:nvSpPr>
        <p:spPr>
          <a:xfrm>
            <a:off x="812800" y="749300"/>
            <a:ext cx="26543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GB" sz="1000" b="1">
                <a:solidFill>
                  <a:srgbClr val="004D33"/>
                </a:solidFill>
                <a:latin typeface="Aptos" panose="020B0004020202020204" pitchFamily="34" charset="0"/>
              </a:rPr>
              <a:t>PRODUCT &amp; PRICING EXPERIENCE</a:t>
            </a:r>
            <a:endParaRPr lang="th-TH" sz="1000" b="1">
              <a:solidFill>
                <a:srgbClr val="004D33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C4F5E1-0392-DEAB-BD1F-CE40796CD0A9}"/>
              </a:ext>
            </a:extLst>
          </p:cNvPr>
          <p:cNvSpPr txBox="1"/>
          <p:nvPr/>
        </p:nvSpPr>
        <p:spPr>
          <a:xfrm>
            <a:off x="711200" y="1524000"/>
            <a:ext cx="8509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3800" b="1">
                <a:solidFill>
                  <a:srgbClr val="FFFFFF"/>
                </a:solidFill>
                <a:latin typeface="Aptos" panose="020B0004020202020204" pitchFamily="34" charset="0"/>
              </a:rPr>
              <a:t>Customer Portal</a:t>
            </a:r>
            <a:endParaRPr lang="th-TH" sz="3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934157-A70E-2D39-5E03-70D7F36C739C}"/>
              </a:ext>
            </a:extLst>
          </p:cNvPr>
          <p:cNvSpPr txBox="1"/>
          <p:nvPr/>
        </p:nvSpPr>
        <p:spPr>
          <a:xfrm>
            <a:off x="711200" y="2476500"/>
            <a:ext cx="825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DDF3E7"/>
                </a:solidFill>
                <a:latin typeface="Aptos" panose="020B0004020202020204" pitchFamily="34" charset="0"/>
              </a:rPr>
              <a:t>Step-by-step customer journey, catalogue access, brand pricing and promotions</a:t>
            </a:r>
            <a:endParaRPr lang="th-TH" sz="2000">
              <a:solidFill>
                <a:srgbClr val="DDF3E7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DB79F2-CAF3-6183-6608-A4902A63A6D8}"/>
              </a:ext>
            </a:extLst>
          </p:cNvPr>
          <p:cNvSpPr txBox="1"/>
          <p:nvPr/>
        </p:nvSpPr>
        <p:spPr>
          <a:xfrm>
            <a:off x="711200" y="4038600"/>
            <a:ext cx="7239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One shared login. A unique customer context. The right price for every brand.</a:t>
            </a:r>
            <a:endParaRPr lang="th-TH" sz="17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B0B2C9-04BB-4815-88AE-282E37128BC3}"/>
              </a:ext>
            </a:extLst>
          </p:cNvPr>
          <p:cNvSpPr txBox="1"/>
          <p:nvPr/>
        </p:nvSpPr>
        <p:spPr>
          <a:xfrm>
            <a:off x="711200" y="5791200"/>
            <a:ext cx="457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300" b="1">
                <a:solidFill>
                  <a:srgbClr val="DDF3E7"/>
                </a:solidFill>
                <a:latin typeface="Aptos" panose="020B0004020202020204" pitchFamily="34" charset="0"/>
              </a:rPr>
              <a:t>GMS Catalogue Platform</a:t>
            </a:r>
            <a:endParaRPr lang="th-TH" sz="1300" b="1">
              <a:solidFill>
                <a:srgbClr val="DDF3E7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232200-D846-1E07-D3D7-F049221D10D9}"/>
              </a:ext>
            </a:extLst>
          </p:cNvPr>
          <p:cNvSpPr txBox="1"/>
          <p:nvPr/>
        </p:nvSpPr>
        <p:spPr>
          <a:xfrm>
            <a:off x="711200" y="61468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100">
                <a:solidFill>
                  <a:srgbClr val="DDF3E7"/>
                </a:solidFill>
                <a:latin typeface="Aptos" panose="020B0004020202020204" pitchFamily="34" charset="0"/>
              </a:rPr>
              <a:t>09 September 2026</a:t>
            </a:r>
            <a:endParaRPr lang="th-TH" sz="1100">
              <a:solidFill>
                <a:srgbClr val="DDF3E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715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47041A-5C65-F438-8809-DD35D7ECB8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2EDF92-07F1-FD48-A36E-C4058EDB872E}"/>
              </a:ext>
            </a:extLst>
          </p:cNvPr>
          <p:cNvSpPr txBox="1"/>
          <p:nvPr/>
        </p:nvSpPr>
        <p:spPr>
          <a:xfrm>
            <a:off x="609600" y="3048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 b="1">
                <a:solidFill>
                  <a:srgbClr val="0D7A4C"/>
                </a:solidFill>
                <a:latin typeface="Aptos" panose="020B0004020202020204" pitchFamily="34" charset="0"/>
              </a:rPr>
              <a:t>GMS  /  CUSTOMER PORTAL</a:t>
            </a:r>
            <a:endParaRPr lang="th-TH" sz="9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E12DB-E82F-2179-74C5-3BBE692D4082}"/>
              </a:ext>
            </a:extLst>
          </p:cNvPr>
          <p:cNvSpPr txBox="1"/>
          <p:nvPr/>
        </p:nvSpPr>
        <p:spPr>
          <a:xfrm>
            <a:off x="609600" y="660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0261D"/>
                </a:solidFill>
                <a:latin typeface="Aptos" panose="020B0004020202020204" pitchFamily="34" charset="0"/>
              </a:rPr>
              <a:t>What the Customer Portal must achieve</a:t>
            </a:r>
            <a:endParaRPr lang="th-TH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7B69FD-CAB6-3180-25FD-6938ACF364F7}"/>
              </a:ext>
            </a:extLst>
          </p:cNvPr>
          <p:cNvSpPr txBox="1"/>
          <p:nvPr/>
        </p:nvSpPr>
        <p:spPr>
          <a:xfrm>
            <a:off x="609600" y="1244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95E55"/>
                </a:solidFill>
                <a:latin typeface="Aptos" panose="020B0004020202020204" pitchFamily="34" charset="0"/>
              </a:rPr>
              <a:t>A simple experience for customers and a controlled source of truth for administrators.</a:t>
            </a:r>
            <a:endParaRPr lang="th-TH" sz="13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C8C05E-4EF9-B4F7-E128-49220EBC8421}"/>
              </a:ext>
            </a:extLst>
          </p:cNvPr>
          <p:cNvSpPr txBox="1"/>
          <p:nvPr/>
        </p:nvSpPr>
        <p:spPr>
          <a:xfrm>
            <a:off x="11112500" y="6286500"/>
            <a:ext cx="457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h-TH" sz="1000" b="1">
                <a:solidFill>
                  <a:srgbClr val="495E55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8DCC08-2A91-AACB-EE81-A033AEF8DF7D}"/>
              </a:ext>
            </a:extLst>
          </p:cNvPr>
          <p:cNvSpPr txBox="1"/>
          <p:nvPr/>
        </p:nvSpPr>
        <p:spPr>
          <a:xfrm>
            <a:off x="609600" y="6286500"/>
            <a:ext cx="330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>
                <a:solidFill>
                  <a:srgbClr val="495E55"/>
                </a:solidFill>
                <a:latin typeface="Aptos" panose="020B0004020202020204" pitchFamily="34" charset="0"/>
              </a:rPr>
              <a:t>GMS Customer Portal  |  09 Sep 2026</a:t>
            </a:r>
            <a:endParaRPr lang="th-TH" sz="9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400CB4-A1B4-662B-BF4E-BB00F6B97257}"/>
              </a:ext>
            </a:extLst>
          </p:cNvPr>
          <p:cNvSpPr/>
          <p:nvPr/>
        </p:nvSpPr>
        <p:spPr>
          <a:xfrm>
            <a:off x="609600" y="1955800"/>
            <a:ext cx="52578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4E2F7B9-E756-C022-85F2-B5670C2A0F82}"/>
              </a:ext>
            </a:extLst>
          </p:cNvPr>
          <p:cNvSpPr/>
          <p:nvPr/>
        </p:nvSpPr>
        <p:spPr>
          <a:xfrm>
            <a:off x="787400" y="2146300"/>
            <a:ext cx="381000" cy="381000"/>
          </a:xfrm>
          <a:prstGeom prst="ellipse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A3355A-FB84-D00A-0DEF-56BC0EEE95EE}"/>
              </a:ext>
            </a:extLst>
          </p:cNvPr>
          <p:cNvSpPr txBox="1"/>
          <p:nvPr/>
        </p:nvSpPr>
        <p:spPr>
          <a:xfrm>
            <a:off x="787400" y="21463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th-TH" sz="1200" b="1">
                <a:solidFill>
                  <a:srgbClr val="FFFF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7FA848-D9D8-D287-C05A-D8A65DEBA7B2}"/>
              </a:ext>
            </a:extLst>
          </p:cNvPr>
          <p:cNvSpPr txBox="1"/>
          <p:nvPr/>
        </p:nvSpPr>
        <p:spPr>
          <a:xfrm>
            <a:off x="1308100" y="2133600"/>
            <a:ext cx="4394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400" b="1">
                <a:solidFill>
                  <a:srgbClr val="10261D"/>
                </a:solidFill>
                <a:latin typeface="Aptos" panose="020B0004020202020204" pitchFamily="34" charset="0"/>
              </a:rPr>
              <a:t>Simple access</a:t>
            </a:r>
            <a:endParaRPr lang="th-TH" sz="14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90BC2F-DEF8-C40D-1BBC-D987DAC5369D}"/>
              </a:ext>
            </a:extLst>
          </p:cNvPr>
          <p:cNvSpPr txBox="1"/>
          <p:nvPr/>
        </p:nvSpPr>
        <p:spPr>
          <a:xfrm>
            <a:off x="812800" y="2654300"/>
            <a:ext cx="4851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495E55"/>
                </a:solidFill>
                <a:latin typeface="Aptos" panose="020B0004020202020204" pitchFamily="34" charset="0"/>
              </a:rPr>
              <a:t>A shared customer login plus a unique customer link or access code.</a:t>
            </a:r>
            <a:endParaRPr lang="th-TH" sz="11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79C8E11-C40B-FF69-7D78-5E15BFEF5EE0}"/>
              </a:ext>
            </a:extLst>
          </p:cNvPr>
          <p:cNvSpPr/>
          <p:nvPr/>
        </p:nvSpPr>
        <p:spPr>
          <a:xfrm>
            <a:off x="6172200" y="1955800"/>
            <a:ext cx="52578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04BF95-97C9-646A-5017-046A9E38E8BE}"/>
              </a:ext>
            </a:extLst>
          </p:cNvPr>
          <p:cNvSpPr/>
          <p:nvPr/>
        </p:nvSpPr>
        <p:spPr>
          <a:xfrm>
            <a:off x="6350000" y="2146300"/>
            <a:ext cx="381000" cy="381000"/>
          </a:xfrm>
          <a:prstGeom prst="ellipse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3D4F84-AEF8-E60A-DFCE-63612BDF81EC}"/>
              </a:ext>
            </a:extLst>
          </p:cNvPr>
          <p:cNvSpPr txBox="1"/>
          <p:nvPr/>
        </p:nvSpPr>
        <p:spPr>
          <a:xfrm>
            <a:off x="6350000" y="21463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th-TH" sz="1200" b="1">
                <a:solidFill>
                  <a:srgbClr val="FFFFFF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D1A062-23F4-CF43-6F15-92C4836AB8DD}"/>
              </a:ext>
            </a:extLst>
          </p:cNvPr>
          <p:cNvSpPr txBox="1"/>
          <p:nvPr/>
        </p:nvSpPr>
        <p:spPr>
          <a:xfrm>
            <a:off x="6870700" y="2133600"/>
            <a:ext cx="4394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400" b="1">
                <a:solidFill>
                  <a:srgbClr val="10261D"/>
                </a:solidFill>
                <a:latin typeface="Aptos" panose="020B0004020202020204" pitchFamily="34" charset="0"/>
              </a:rPr>
              <a:t>Correct pricing</a:t>
            </a:r>
            <a:endParaRPr lang="th-TH" sz="14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02B0C6-AAEA-B619-EF32-8C6737445378}"/>
              </a:ext>
            </a:extLst>
          </p:cNvPr>
          <p:cNvSpPr txBox="1"/>
          <p:nvPr/>
        </p:nvSpPr>
        <p:spPr>
          <a:xfrm>
            <a:off x="6375400" y="2654300"/>
            <a:ext cx="4851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495E55"/>
                </a:solidFill>
                <a:latin typeface="Aptos" panose="020B0004020202020204" pitchFamily="34" charset="0"/>
              </a:rPr>
              <a:t>Every product resolves price from its own brand mapping and customer profile.</a:t>
            </a:r>
            <a:endParaRPr lang="th-TH" sz="11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E8B1A62-5B2C-2173-6492-6EBBBF6AA7AA}"/>
              </a:ext>
            </a:extLst>
          </p:cNvPr>
          <p:cNvSpPr/>
          <p:nvPr/>
        </p:nvSpPr>
        <p:spPr>
          <a:xfrm>
            <a:off x="609600" y="3810000"/>
            <a:ext cx="52578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F67B108-DFDC-E4F8-E07F-9D6EF4570FC5}"/>
              </a:ext>
            </a:extLst>
          </p:cNvPr>
          <p:cNvSpPr/>
          <p:nvPr/>
        </p:nvSpPr>
        <p:spPr>
          <a:xfrm>
            <a:off x="787400" y="4000500"/>
            <a:ext cx="381000" cy="381000"/>
          </a:xfrm>
          <a:prstGeom prst="ellipse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77DFF4-9315-03D5-A82A-BD660000DB60}"/>
              </a:ext>
            </a:extLst>
          </p:cNvPr>
          <p:cNvSpPr txBox="1"/>
          <p:nvPr/>
        </p:nvSpPr>
        <p:spPr>
          <a:xfrm>
            <a:off x="787400" y="40005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th-TH" sz="1200" b="1">
                <a:solidFill>
                  <a:srgbClr val="FFFFF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5A3503-C825-D0B9-164C-72791F901447}"/>
              </a:ext>
            </a:extLst>
          </p:cNvPr>
          <p:cNvSpPr txBox="1"/>
          <p:nvPr/>
        </p:nvSpPr>
        <p:spPr>
          <a:xfrm>
            <a:off x="1308100" y="3987800"/>
            <a:ext cx="4394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400" b="1">
                <a:solidFill>
                  <a:srgbClr val="10261D"/>
                </a:solidFill>
                <a:latin typeface="Aptos" panose="020B0004020202020204" pitchFamily="34" charset="0"/>
              </a:rPr>
              <a:t>Published content only</a:t>
            </a:r>
            <a:endParaRPr lang="th-TH" sz="14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E9EE9F-A92C-CB0E-3E2B-5D433585286F}"/>
              </a:ext>
            </a:extLst>
          </p:cNvPr>
          <p:cNvSpPr txBox="1"/>
          <p:nvPr/>
        </p:nvSpPr>
        <p:spPr>
          <a:xfrm>
            <a:off x="812800" y="4508500"/>
            <a:ext cx="4851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495E55"/>
                </a:solidFill>
                <a:latin typeface="Aptos" panose="020B0004020202020204" pitchFamily="34" charset="0"/>
              </a:rPr>
              <a:t>Customers see catalogues and promotions that are ready for external use.</a:t>
            </a:r>
            <a:endParaRPr lang="th-TH" sz="11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80C2514-0146-FCE3-B4DA-149EB5E50164}"/>
              </a:ext>
            </a:extLst>
          </p:cNvPr>
          <p:cNvSpPr/>
          <p:nvPr/>
        </p:nvSpPr>
        <p:spPr>
          <a:xfrm>
            <a:off x="6172200" y="3810000"/>
            <a:ext cx="52578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2337F3E-D1E7-1DCA-5B71-62F59E6CD65C}"/>
              </a:ext>
            </a:extLst>
          </p:cNvPr>
          <p:cNvSpPr/>
          <p:nvPr/>
        </p:nvSpPr>
        <p:spPr>
          <a:xfrm>
            <a:off x="6350000" y="4000500"/>
            <a:ext cx="381000" cy="381000"/>
          </a:xfrm>
          <a:prstGeom prst="ellipse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E55551-B92C-2F21-52EE-259B4ECD88A2}"/>
              </a:ext>
            </a:extLst>
          </p:cNvPr>
          <p:cNvSpPr txBox="1"/>
          <p:nvPr/>
        </p:nvSpPr>
        <p:spPr>
          <a:xfrm>
            <a:off x="6350000" y="40005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th-TH" sz="1200" b="1">
                <a:solidFill>
                  <a:srgbClr val="FFFFFF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6B7C0C-6508-FB62-B7DA-D4B4642FCB27}"/>
              </a:ext>
            </a:extLst>
          </p:cNvPr>
          <p:cNvSpPr txBox="1"/>
          <p:nvPr/>
        </p:nvSpPr>
        <p:spPr>
          <a:xfrm>
            <a:off x="6870700" y="3987800"/>
            <a:ext cx="4394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400" b="1">
                <a:solidFill>
                  <a:srgbClr val="10261D"/>
                </a:solidFill>
                <a:latin typeface="Aptos" panose="020B0004020202020204" pitchFamily="34" charset="0"/>
              </a:rPr>
              <a:t>Self-service</a:t>
            </a:r>
            <a:endParaRPr lang="th-TH" sz="14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7A3918-0059-DA33-6762-9C250A44A999}"/>
              </a:ext>
            </a:extLst>
          </p:cNvPr>
          <p:cNvSpPr txBox="1"/>
          <p:nvPr/>
        </p:nvSpPr>
        <p:spPr>
          <a:xfrm>
            <a:off x="6375400" y="4508500"/>
            <a:ext cx="4851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495E55"/>
                </a:solidFill>
                <a:latin typeface="Aptos" panose="020B0004020202020204" pitchFamily="34" charset="0"/>
              </a:rPr>
              <a:t>Browse, search, save, open and download without admin controls.</a:t>
            </a:r>
            <a:endParaRPr lang="th-TH" sz="11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420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FD7CB1-7A47-4181-E647-FCD29AEDE1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B9802B-538B-7BBE-2B70-941CD6DF519D}"/>
              </a:ext>
            </a:extLst>
          </p:cNvPr>
          <p:cNvSpPr txBox="1"/>
          <p:nvPr/>
        </p:nvSpPr>
        <p:spPr>
          <a:xfrm>
            <a:off x="609600" y="3048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 b="1">
                <a:solidFill>
                  <a:srgbClr val="0D7A4C"/>
                </a:solidFill>
                <a:latin typeface="Aptos" panose="020B0004020202020204" pitchFamily="34" charset="0"/>
              </a:rPr>
              <a:t>GMS  /  CUSTOMER PORTAL</a:t>
            </a:r>
            <a:endParaRPr lang="th-TH" sz="9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F4C05-B7DA-25FC-1F2B-4AD75D5F8387}"/>
              </a:ext>
            </a:extLst>
          </p:cNvPr>
          <p:cNvSpPr txBox="1"/>
          <p:nvPr/>
        </p:nvSpPr>
        <p:spPr>
          <a:xfrm>
            <a:off x="609600" y="660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b="1">
                <a:solidFill>
                  <a:srgbClr val="10261D"/>
                </a:solidFill>
                <a:latin typeface="Aptos" panose="020B0004020202020204" pitchFamily="34" charset="0"/>
              </a:rPr>
              <a:t>End-to-end customer journey</a:t>
            </a:r>
            <a:endParaRPr lang="th-TH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9B4C2-BBBB-7951-4866-1C6DD8184FFA}"/>
              </a:ext>
            </a:extLst>
          </p:cNvPr>
          <p:cNvSpPr txBox="1"/>
          <p:nvPr/>
        </p:nvSpPr>
        <p:spPr>
          <a:xfrm>
            <a:off x="609600" y="1244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95E55"/>
                </a:solidFill>
                <a:latin typeface="Aptos" panose="020B0004020202020204" pitchFamily="34" charset="0"/>
              </a:rPr>
              <a:t>The customer completes one access step; the platform handles the remaining pricing decisions.</a:t>
            </a:r>
            <a:endParaRPr lang="th-TH" sz="13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43C12-CE29-32C2-6A61-FC3778DE82BF}"/>
              </a:ext>
            </a:extLst>
          </p:cNvPr>
          <p:cNvSpPr txBox="1"/>
          <p:nvPr/>
        </p:nvSpPr>
        <p:spPr>
          <a:xfrm>
            <a:off x="11112500" y="6286500"/>
            <a:ext cx="457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h-TH" sz="1000" b="1">
                <a:solidFill>
                  <a:srgbClr val="495E55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1B9B1E-EF54-1750-1CD5-8C82DF9C6DD0}"/>
              </a:ext>
            </a:extLst>
          </p:cNvPr>
          <p:cNvSpPr txBox="1"/>
          <p:nvPr/>
        </p:nvSpPr>
        <p:spPr>
          <a:xfrm>
            <a:off x="609600" y="6286500"/>
            <a:ext cx="330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>
                <a:solidFill>
                  <a:srgbClr val="495E55"/>
                </a:solidFill>
                <a:latin typeface="Aptos" panose="020B0004020202020204" pitchFamily="34" charset="0"/>
              </a:rPr>
              <a:t>GMS Customer Portal  |  09 Sep 2026</a:t>
            </a:r>
            <a:endParaRPr lang="th-TH" sz="9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DE3A99-E416-92FE-F15E-73046BB7D1E2}"/>
              </a:ext>
            </a:extLst>
          </p:cNvPr>
          <p:cNvSpPr/>
          <p:nvPr/>
        </p:nvSpPr>
        <p:spPr>
          <a:xfrm>
            <a:off x="609600" y="2260600"/>
            <a:ext cx="24130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83E30D5-1AAD-517B-795E-B8858C8A5311}"/>
              </a:ext>
            </a:extLst>
          </p:cNvPr>
          <p:cNvSpPr/>
          <p:nvPr/>
        </p:nvSpPr>
        <p:spPr>
          <a:xfrm>
            <a:off x="787400" y="2451100"/>
            <a:ext cx="381000" cy="381000"/>
          </a:xfrm>
          <a:prstGeom prst="ellipse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60FA38-BDB7-1AB0-7B26-0D760ED1AE30}"/>
              </a:ext>
            </a:extLst>
          </p:cNvPr>
          <p:cNvSpPr txBox="1"/>
          <p:nvPr/>
        </p:nvSpPr>
        <p:spPr>
          <a:xfrm>
            <a:off x="787400" y="24511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th-TH" sz="12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E59851-7AFB-6291-81C7-5C49549159EF}"/>
              </a:ext>
            </a:extLst>
          </p:cNvPr>
          <p:cNvSpPr txBox="1"/>
          <p:nvPr/>
        </p:nvSpPr>
        <p:spPr>
          <a:xfrm>
            <a:off x="1308100" y="2438400"/>
            <a:ext cx="1549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400" b="1">
                <a:solidFill>
                  <a:srgbClr val="10261D"/>
                </a:solidFill>
                <a:latin typeface="Aptos" panose="020B0004020202020204" pitchFamily="34" charset="0"/>
              </a:rPr>
              <a:t>Shared login</a:t>
            </a:r>
            <a:endParaRPr lang="th-TH" sz="14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2BBC4E-82CC-90A9-821D-F8C6CA4370D1}"/>
              </a:ext>
            </a:extLst>
          </p:cNvPr>
          <p:cNvSpPr txBox="1"/>
          <p:nvPr/>
        </p:nvSpPr>
        <p:spPr>
          <a:xfrm>
            <a:off x="812800" y="2959100"/>
            <a:ext cx="2006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495E55"/>
                </a:solidFill>
                <a:latin typeface="Aptos" panose="020B0004020202020204" pitchFamily="34" charset="0"/>
              </a:rPr>
              <a:t>Authenticate as a Customer Account</a:t>
            </a:r>
            <a:endParaRPr lang="th-TH" sz="11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507740-2808-7385-D977-58E2CA3EF020}"/>
              </a:ext>
            </a:extLst>
          </p:cNvPr>
          <p:cNvCxnSpPr/>
          <p:nvPr/>
        </p:nvCxnSpPr>
        <p:spPr>
          <a:xfrm>
            <a:off x="3022600" y="3340100"/>
            <a:ext cx="355600" cy="0"/>
          </a:xfrm>
          <a:prstGeom prst="line">
            <a:avLst/>
          </a:prstGeom>
          <a:ln w="28575">
            <a:solidFill>
              <a:srgbClr val="0D7A4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EC60A44-A82D-D8A5-CD4F-C6C8E4769FA2}"/>
              </a:ext>
            </a:extLst>
          </p:cNvPr>
          <p:cNvSpPr/>
          <p:nvPr/>
        </p:nvSpPr>
        <p:spPr>
          <a:xfrm>
            <a:off x="3403600" y="2260600"/>
            <a:ext cx="24130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474A8E5-4CED-2884-2132-80726A7BD709}"/>
              </a:ext>
            </a:extLst>
          </p:cNvPr>
          <p:cNvSpPr/>
          <p:nvPr/>
        </p:nvSpPr>
        <p:spPr>
          <a:xfrm>
            <a:off x="3581400" y="2451100"/>
            <a:ext cx="381000" cy="381000"/>
          </a:xfrm>
          <a:prstGeom prst="ellipse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62AAEA-6190-966D-77ED-FB0826917E54}"/>
              </a:ext>
            </a:extLst>
          </p:cNvPr>
          <p:cNvSpPr txBox="1"/>
          <p:nvPr/>
        </p:nvSpPr>
        <p:spPr>
          <a:xfrm>
            <a:off x="3581400" y="24511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th-TH" sz="12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4FCFBB-193D-A67A-7445-E9E00EFAD61F}"/>
              </a:ext>
            </a:extLst>
          </p:cNvPr>
          <p:cNvSpPr txBox="1"/>
          <p:nvPr/>
        </p:nvSpPr>
        <p:spPr>
          <a:xfrm>
            <a:off x="4102100" y="2438400"/>
            <a:ext cx="1549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400" b="1">
                <a:solidFill>
                  <a:srgbClr val="10261D"/>
                </a:solidFill>
                <a:latin typeface="Aptos" panose="020B0004020202020204" pitchFamily="34" charset="0"/>
              </a:rPr>
              <a:t>Secure context</a:t>
            </a:r>
            <a:endParaRPr lang="th-TH" sz="14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0D6790-CE9A-3E2A-023D-0CAA0A163C20}"/>
              </a:ext>
            </a:extLst>
          </p:cNvPr>
          <p:cNvSpPr txBox="1"/>
          <p:nvPr/>
        </p:nvSpPr>
        <p:spPr>
          <a:xfrm>
            <a:off x="3606800" y="2959100"/>
            <a:ext cx="2006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495E55"/>
                </a:solidFill>
                <a:latin typeface="Aptos" panose="020B0004020202020204" pitchFamily="34" charset="0"/>
              </a:rPr>
              <a:t>Open customer link or enter access code</a:t>
            </a:r>
            <a:endParaRPr lang="th-TH" sz="11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FB446FA-A669-8060-2236-2022BF31CAAB}"/>
              </a:ext>
            </a:extLst>
          </p:cNvPr>
          <p:cNvCxnSpPr/>
          <p:nvPr/>
        </p:nvCxnSpPr>
        <p:spPr>
          <a:xfrm>
            <a:off x="5816600" y="3340100"/>
            <a:ext cx="355600" cy="0"/>
          </a:xfrm>
          <a:prstGeom prst="line">
            <a:avLst/>
          </a:prstGeom>
          <a:ln w="28575">
            <a:solidFill>
              <a:srgbClr val="0D7A4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E27E3DC-FA44-8A19-210A-04D670501819}"/>
              </a:ext>
            </a:extLst>
          </p:cNvPr>
          <p:cNvSpPr/>
          <p:nvPr/>
        </p:nvSpPr>
        <p:spPr>
          <a:xfrm>
            <a:off x="6197600" y="2260600"/>
            <a:ext cx="24130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A468817-2190-CB65-095F-7DA8AD6B1614}"/>
              </a:ext>
            </a:extLst>
          </p:cNvPr>
          <p:cNvSpPr/>
          <p:nvPr/>
        </p:nvSpPr>
        <p:spPr>
          <a:xfrm>
            <a:off x="6375400" y="2451100"/>
            <a:ext cx="381000" cy="381000"/>
          </a:xfrm>
          <a:prstGeom prst="ellipse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4C522F-79B7-ACDA-2A46-E4ED6DF9E69F}"/>
              </a:ext>
            </a:extLst>
          </p:cNvPr>
          <p:cNvSpPr txBox="1"/>
          <p:nvPr/>
        </p:nvSpPr>
        <p:spPr>
          <a:xfrm>
            <a:off x="6375400" y="24511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th-TH" sz="12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7F9537-AB79-472F-1AFB-D994A4A4AE83}"/>
              </a:ext>
            </a:extLst>
          </p:cNvPr>
          <p:cNvSpPr txBox="1"/>
          <p:nvPr/>
        </p:nvSpPr>
        <p:spPr>
          <a:xfrm>
            <a:off x="6896100" y="2438400"/>
            <a:ext cx="1549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400" b="1">
                <a:solidFill>
                  <a:srgbClr val="10261D"/>
                </a:solidFill>
                <a:latin typeface="Aptos" panose="020B0004020202020204" pitchFamily="34" charset="0"/>
              </a:rPr>
              <a:t>Published content</a:t>
            </a:r>
            <a:endParaRPr lang="th-TH" sz="14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F9558F-17D9-571E-7471-0DAA8ABF2804}"/>
              </a:ext>
            </a:extLst>
          </p:cNvPr>
          <p:cNvSpPr txBox="1"/>
          <p:nvPr/>
        </p:nvSpPr>
        <p:spPr>
          <a:xfrm>
            <a:off x="6400800" y="2959100"/>
            <a:ext cx="2006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100">
                <a:solidFill>
                  <a:srgbClr val="495E55"/>
                </a:solidFill>
                <a:latin typeface="Aptos" panose="020B0004020202020204" pitchFamily="34" charset="0"/>
              </a:rPr>
              <a:t>Load this customer's catalogues</a:t>
            </a:r>
            <a:endParaRPr lang="th-TH" sz="11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9DA016E-CBF6-6785-19A1-7DED59F32E40}"/>
              </a:ext>
            </a:extLst>
          </p:cNvPr>
          <p:cNvCxnSpPr/>
          <p:nvPr/>
        </p:nvCxnSpPr>
        <p:spPr>
          <a:xfrm>
            <a:off x="8610600" y="3340100"/>
            <a:ext cx="355600" cy="0"/>
          </a:xfrm>
          <a:prstGeom prst="line">
            <a:avLst/>
          </a:prstGeom>
          <a:ln w="28575">
            <a:solidFill>
              <a:srgbClr val="0D7A4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4536937-B4D1-4EC1-6981-5D042A19D939}"/>
              </a:ext>
            </a:extLst>
          </p:cNvPr>
          <p:cNvSpPr/>
          <p:nvPr/>
        </p:nvSpPr>
        <p:spPr>
          <a:xfrm>
            <a:off x="8991600" y="2260600"/>
            <a:ext cx="2413000" cy="2159000"/>
          </a:xfrm>
          <a:prstGeom prst="roundRect">
            <a:avLst/>
          </a:prstGeom>
          <a:solidFill>
            <a:srgbClr val="DDF3E7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3C53F00-4C74-EF94-2D5A-D0B08567A2F2}"/>
              </a:ext>
            </a:extLst>
          </p:cNvPr>
          <p:cNvSpPr/>
          <p:nvPr/>
        </p:nvSpPr>
        <p:spPr>
          <a:xfrm>
            <a:off x="9169400" y="2451100"/>
            <a:ext cx="381000" cy="381000"/>
          </a:xfrm>
          <a:prstGeom prst="ellipse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1858D2-B9F0-50C3-4AE9-F1425AB98BB1}"/>
              </a:ext>
            </a:extLst>
          </p:cNvPr>
          <p:cNvSpPr txBox="1"/>
          <p:nvPr/>
        </p:nvSpPr>
        <p:spPr>
          <a:xfrm>
            <a:off x="9169400" y="24511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th-TH" sz="12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E7A1F7-C7A5-0F5B-5527-5676E1D7EA02}"/>
              </a:ext>
            </a:extLst>
          </p:cNvPr>
          <p:cNvSpPr txBox="1"/>
          <p:nvPr/>
        </p:nvSpPr>
        <p:spPr>
          <a:xfrm>
            <a:off x="9690100" y="2438400"/>
            <a:ext cx="1549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400" b="1">
                <a:solidFill>
                  <a:srgbClr val="10261D"/>
                </a:solidFill>
                <a:latin typeface="Aptos" panose="020B0004020202020204" pitchFamily="34" charset="0"/>
              </a:rPr>
              <a:t>Resolved prices</a:t>
            </a:r>
            <a:endParaRPr lang="th-TH" sz="14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F7FED6-63DF-900A-4E58-581D34E2A8A4}"/>
              </a:ext>
            </a:extLst>
          </p:cNvPr>
          <p:cNvSpPr txBox="1"/>
          <p:nvPr/>
        </p:nvSpPr>
        <p:spPr>
          <a:xfrm>
            <a:off x="9194800" y="2959100"/>
            <a:ext cx="2006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495E55"/>
                </a:solidFill>
                <a:latin typeface="Aptos" panose="020B0004020202020204" pitchFamily="34" charset="0"/>
              </a:rPr>
              <a:t>Brand mapping + promotion = final price</a:t>
            </a:r>
            <a:endParaRPr lang="th-TH" sz="11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E34C4D4-A122-9E60-573E-54B8B61ABDCA}"/>
              </a:ext>
            </a:extLst>
          </p:cNvPr>
          <p:cNvSpPr/>
          <p:nvPr/>
        </p:nvSpPr>
        <p:spPr>
          <a:xfrm>
            <a:off x="609600" y="4787900"/>
            <a:ext cx="10795000" cy="889000"/>
          </a:xfrm>
          <a:prstGeom prst="roundRect">
            <a:avLst/>
          </a:prstGeom>
          <a:solidFill>
            <a:srgbClr val="004D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48759E-1202-4B1A-3CBF-65B1A123C047}"/>
              </a:ext>
            </a:extLst>
          </p:cNvPr>
          <p:cNvSpPr txBox="1"/>
          <p:nvPr/>
        </p:nvSpPr>
        <p:spPr>
          <a:xfrm>
            <a:off x="889000" y="4991100"/>
            <a:ext cx="203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000" b="1">
                <a:solidFill>
                  <a:srgbClr val="DDF3E7"/>
                </a:solidFill>
                <a:latin typeface="Aptos" panose="020B0004020202020204" pitchFamily="34" charset="0"/>
              </a:rPr>
              <a:t>Customer result</a:t>
            </a:r>
            <a:endParaRPr lang="th-TH" sz="1000" b="1">
              <a:solidFill>
                <a:srgbClr val="DDF3E7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1751F8-41C0-1DF7-3624-911071AD3A34}"/>
              </a:ext>
            </a:extLst>
          </p:cNvPr>
          <p:cNvSpPr txBox="1"/>
          <p:nvPr/>
        </p:nvSpPr>
        <p:spPr>
          <a:xfrm>
            <a:off x="889000" y="5283200"/>
            <a:ext cx="9906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The same catalogue can safely show different final prices to different customer profiles.</a:t>
            </a:r>
            <a:endParaRPr lang="th-TH" sz="1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815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19E783-D820-26F9-0F5C-46A8119B43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D69FE3-84C8-E9F2-5EBA-229A16DDA6D1}"/>
              </a:ext>
            </a:extLst>
          </p:cNvPr>
          <p:cNvSpPr txBox="1"/>
          <p:nvPr/>
        </p:nvSpPr>
        <p:spPr>
          <a:xfrm>
            <a:off x="609600" y="3048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 b="1">
                <a:solidFill>
                  <a:srgbClr val="0D7A4C"/>
                </a:solidFill>
                <a:latin typeface="Aptos" panose="020B0004020202020204" pitchFamily="34" charset="0"/>
              </a:rPr>
              <a:t>GMS  /  CUSTOMER PORTAL</a:t>
            </a:r>
            <a:endParaRPr lang="th-TH" sz="9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C60F51-D48B-1A48-136C-3262464E925A}"/>
              </a:ext>
            </a:extLst>
          </p:cNvPr>
          <p:cNvSpPr txBox="1"/>
          <p:nvPr/>
        </p:nvSpPr>
        <p:spPr>
          <a:xfrm>
            <a:off x="609600" y="660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0261D"/>
                </a:solidFill>
                <a:latin typeface="Aptos" panose="020B0004020202020204" pitchFamily="34" charset="0"/>
              </a:rPr>
              <a:t>Step 1 - Sign in and identify the customer</a:t>
            </a:r>
            <a:endParaRPr lang="th-TH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0379EE-2C85-8BD8-9772-F4A7D2D8329A}"/>
              </a:ext>
            </a:extLst>
          </p:cNvPr>
          <p:cNvSpPr txBox="1"/>
          <p:nvPr/>
        </p:nvSpPr>
        <p:spPr>
          <a:xfrm>
            <a:off x="609600" y="1244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95E55"/>
                </a:solidFill>
                <a:latin typeface="Aptos" panose="020B0004020202020204" pitchFamily="34" charset="0"/>
              </a:rPr>
              <a:t>A shared login authenticates the user; the unique access context identifies the commercial profile.</a:t>
            </a:r>
            <a:endParaRPr lang="th-TH" sz="13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55109F-94E0-5FF2-2DFC-292871579DFB}"/>
              </a:ext>
            </a:extLst>
          </p:cNvPr>
          <p:cNvSpPr txBox="1"/>
          <p:nvPr/>
        </p:nvSpPr>
        <p:spPr>
          <a:xfrm>
            <a:off x="11112500" y="6286500"/>
            <a:ext cx="457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h-TH" sz="1000" b="1">
                <a:solidFill>
                  <a:srgbClr val="495E55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CBFF62-6142-14DC-E921-CF5DD31BB41B}"/>
              </a:ext>
            </a:extLst>
          </p:cNvPr>
          <p:cNvSpPr txBox="1"/>
          <p:nvPr/>
        </p:nvSpPr>
        <p:spPr>
          <a:xfrm>
            <a:off x="609600" y="6286500"/>
            <a:ext cx="330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>
                <a:solidFill>
                  <a:srgbClr val="495E55"/>
                </a:solidFill>
                <a:latin typeface="Aptos" panose="020B0004020202020204" pitchFamily="34" charset="0"/>
              </a:rPr>
              <a:t>GMS Customer Portal  |  09 Sep 2026</a:t>
            </a:r>
            <a:endParaRPr lang="th-TH" sz="9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F74455-E206-1FB9-B95B-5FFDA2E9D50E}"/>
              </a:ext>
            </a:extLst>
          </p:cNvPr>
          <p:cNvSpPr/>
          <p:nvPr/>
        </p:nvSpPr>
        <p:spPr>
          <a:xfrm>
            <a:off x="609600" y="1955800"/>
            <a:ext cx="431800" cy="431800"/>
          </a:xfrm>
          <a:prstGeom prst="ellipse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40FAC0-DA03-70D5-9FAB-C909710042C0}"/>
              </a:ext>
            </a:extLst>
          </p:cNvPr>
          <p:cNvSpPr txBox="1"/>
          <p:nvPr/>
        </p:nvSpPr>
        <p:spPr>
          <a:xfrm>
            <a:off x="609600" y="1955800"/>
            <a:ext cx="4318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th-TH" sz="15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5CE3A-C703-FCD5-CA55-FF0838E77FE5}"/>
              </a:ext>
            </a:extLst>
          </p:cNvPr>
          <p:cNvSpPr txBox="1"/>
          <p:nvPr/>
        </p:nvSpPr>
        <p:spPr>
          <a:xfrm>
            <a:off x="1219200" y="1955800"/>
            <a:ext cx="4318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2000" b="1">
                <a:solidFill>
                  <a:srgbClr val="10261D"/>
                </a:solidFill>
                <a:latin typeface="Aptos" panose="020B0004020202020204" pitchFamily="34" charset="0"/>
              </a:rPr>
              <a:t>Customer signs in</a:t>
            </a:r>
            <a:endParaRPr lang="th-TH" sz="20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093861B-85A7-5C1B-5E7C-125B898F361F}"/>
              </a:ext>
            </a:extLst>
          </p:cNvPr>
          <p:cNvSpPr/>
          <p:nvPr/>
        </p:nvSpPr>
        <p:spPr>
          <a:xfrm>
            <a:off x="723900" y="2717800"/>
            <a:ext cx="127000" cy="127000"/>
          </a:xfrm>
          <a:prstGeom prst="ellipse">
            <a:avLst/>
          </a:prstGeom>
          <a:solidFill>
            <a:srgbClr val="1DA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73BE2D-21F0-4749-91C9-317A68F9943B}"/>
              </a:ext>
            </a:extLst>
          </p:cNvPr>
          <p:cNvSpPr txBox="1"/>
          <p:nvPr/>
        </p:nvSpPr>
        <p:spPr>
          <a:xfrm>
            <a:off x="1003300" y="2628900"/>
            <a:ext cx="4546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>
                <a:solidFill>
                  <a:srgbClr val="10261D"/>
                </a:solidFill>
                <a:latin typeface="Aptos" panose="020B0004020202020204" pitchFamily="34" charset="0"/>
              </a:rPr>
              <a:t>Account type must be Customer Account</a:t>
            </a:r>
            <a:endParaRPr lang="th-TH" sz="13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14EBA2F-0CF9-9CE1-E2F2-02DB2765F090}"/>
              </a:ext>
            </a:extLst>
          </p:cNvPr>
          <p:cNvSpPr/>
          <p:nvPr/>
        </p:nvSpPr>
        <p:spPr>
          <a:xfrm>
            <a:off x="723900" y="3327400"/>
            <a:ext cx="127000" cy="127000"/>
          </a:xfrm>
          <a:prstGeom prst="ellipse">
            <a:avLst/>
          </a:prstGeom>
          <a:solidFill>
            <a:srgbClr val="1DA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3DE1DC-7AF8-E76B-4C6A-451E95852ED5}"/>
              </a:ext>
            </a:extLst>
          </p:cNvPr>
          <p:cNvSpPr txBox="1"/>
          <p:nvPr/>
        </p:nvSpPr>
        <p:spPr>
          <a:xfrm>
            <a:off x="1003300" y="3238500"/>
            <a:ext cx="4546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>
                <a:solidFill>
                  <a:srgbClr val="10261D"/>
                </a:solidFill>
                <a:latin typeface="Aptos" panose="020B0004020202020204" pitchFamily="34" charset="0"/>
              </a:rPr>
              <a:t>No admin or Catalogue Studio routes are exposed</a:t>
            </a:r>
            <a:endParaRPr lang="th-TH" sz="13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FD51AAA-F557-F3F6-2052-4D47A2388088}"/>
              </a:ext>
            </a:extLst>
          </p:cNvPr>
          <p:cNvSpPr/>
          <p:nvPr/>
        </p:nvSpPr>
        <p:spPr>
          <a:xfrm>
            <a:off x="723900" y="3937000"/>
            <a:ext cx="127000" cy="127000"/>
          </a:xfrm>
          <a:prstGeom prst="ellipse">
            <a:avLst/>
          </a:prstGeom>
          <a:solidFill>
            <a:srgbClr val="1DA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92001F-F798-E8F4-20F0-80D4E61FCF0A}"/>
              </a:ext>
            </a:extLst>
          </p:cNvPr>
          <p:cNvSpPr txBox="1"/>
          <p:nvPr/>
        </p:nvSpPr>
        <p:spPr>
          <a:xfrm>
            <a:off x="1003300" y="3848100"/>
            <a:ext cx="4546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>
                <a:solidFill>
                  <a:srgbClr val="10261D"/>
                </a:solidFill>
                <a:latin typeface="Aptos" panose="020B0004020202020204" pitchFamily="34" charset="0"/>
              </a:rPr>
              <a:t>Unauthenticated users return to login safely</a:t>
            </a:r>
            <a:endParaRPr lang="th-TH" sz="13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6AEBC7F-054A-9526-48C3-624C7EA6B895}"/>
              </a:ext>
            </a:extLst>
          </p:cNvPr>
          <p:cNvSpPr/>
          <p:nvPr/>
        </p:nvSpPr>
        <p:spPr>
          <a:xfrm>
            <a:off x="6172200" y="1879600"/>
            <a:ext cx="5207000" cy="3429000"/>
          </a:xfrm>
          <a:prstGeom prst="roundRect">
            <a:avLst/>
          </a:prstGeom>
          <a:solidFill>
            <a:srgbClr val="004D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EAC833-BE72-0BC1-2CA1-8F5E4BBA5ED6}"/>
              </a:ext>
            </a:extLst>
          </p:cNvPr>
          <p:cNvSpPr txBox="1"/>
          <p:nvPr/>
        </p:nvSpPr>
        <p:spPr>
          <a:xfrm>
            <a:off x="6553200" y="2235200"/>
            <a:ext cx="254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000" b="1">
                <a:solidFill>
                  <a:srgbClr val="DDF3E7"/>
                </a:solidFill>
                <a:latin typeface="Aptos" panose="020B0004020202020204" pitchFamily="34" charset="0"/>
              </a:rPr>
              <a:t>ACCESS CONTEXT</a:t>
            </a:r>
            <a:endParaRPr lang="th-TH" sz="1000" b="1">
              <a:solidFill>
                <a:srgbClr val="DDF3E7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8FCC8E-A5B1-71AC-1C6D-4DA1C9CF6ED0}"/>
              </a:ext>
            </a:extLst>
          </p:cNvPr>
          <p:cNvSpPr txBox="1"/>
          <p:nvPr/>
        </p:nvSpPr>
        <p:spPr>
          <a:xfrm>
            <a:off x="6553200" y="2667000"/>
            <a:ext cx="406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2500" b="1">
                <a:solidFill>
                  <a:srgbClr val="FFFFFF"/>
                </a:solidFill>
                <a:latin typeface="Aptos" panose="020B0004020202020204" pitchFamily="34" charset="0"/>
              </a:rPr>
              <a:t>Siam Retail Co.</a:t>
            </a:r>
            <a:endParaRPr lang="th-TH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A2D7C7F-D513-7E7A-4564-F2E7CC7F1568}"/>
              </a:ext>
            </a:extLst>
          </p:cNvPr>
          <p:cNvSpPr/>
          <p:nvPr/>
        </p:nvSpPr>
        <p:spPr>
          <a:xfrm>
            <a:off x="6553200" y="3276600"/>
            <a:ext cx="1905000" cy="317500"/>
          </a:xfrm>
          <a:prstGeom prst="roundRect">
            <a:avLst/>
          </a:prstGeom>
          <a:solidFill>
            <a:srgbClr val="DDF3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55C5C4-0BE0-E2F0-D47E-B032B39D62B8}"/>
              </a:ext>
            </a:extLst>
          </p:cNvPr>
          <p:cNvSpPr txBox="1"/>
          <p:nvPr/>
        </p:nvSpPr>
        <p:spPr>
          <a:xfrm>
            <a:off x="6654800" y="3289300"/>
            <a:ext cx="17018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GB" sz="1000" b="1">
                <a:solidFill>
                  <a:srgbClr val="004D33"/>
                </a:solidFill>
                <a:latin typeface="Aptos" panose="020B0004020202020204" pitchFamily="34" charset="0"/>
              </a:rPr>
              <a:t>VIP BKK PRICING</a:t>
            </a:r>
            <a:endParaRPr lang="th-TH" sz="1000" b="1">
              <a:solidFill>
                <a:srgbClr val="004D33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EF85BA-79A4-BB8F-2582-C2A14B449912}"/>
              </a:ext>
            </a:extLst>
          </p:cNvPr>
          <p:cNvSpPr txBox="1"/>
          <p:nvPr/>
        </p:nvSpPr>
        <p:spPr>
          <a:xfrm>
            <a:off x="6553200" y="3924300"/>
            <a:ext cx="203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100" b="1">
                <a:solidFill>
                  <a:srgbClr val="DDF3E7"/>
                </a:solidFill>
                <a:latin typeface="Aptos" panose="020B0004020202020204" pitchFamily="34" charset="0"/>
              </a:rPr>
              <a:t>Resolved from:</a:t>
            </a:r>
            <a:endParaRPr lang="th-TH" sz="1100" b="1">
              <a:solidFill>
                <a:srgbClr val="DDF3E7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05501C-28CF-61E4-70C5-223BA70A0366}"/>
              </a:ext>
            </a:extLst>
          </p:cNvPr>
          <p:cNvSpPr txBox="1"/>
          <p:nvPr/>
        </p:nvSpPr>
        <p:spPr>
          <a:xfrm>
            <a:off x="6553200" y="4279900"/>
            <a:ext cx="419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FFFFFF"/>
                </a:solidFill>
                <a:latin typeface="Aptos" panose="020B0004020202020204" pitchFamily="34" charset="0"/>
              </a:rPr>
              <a:t>Customer link / access code
+ customer profile
+ catalogue audience</a:t>
            </a:r>
            <a:endParaRPr lang="th-TH" sz="14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D57700-CFE3-B96D-0B16-482ADC5E6094}"/>
              </a:ext>
            </a:extLst>
          </p:cNvPr>
          <p:cNvSpPr txBox="1"/>
          <p:nvPr/>
        </p:nvSpPr>
        <p:spPr>
          <a:xfrm>
            <a:off x="6172200" y="5600700"/>
            <a:ext cx="5207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100" b="1">
                <a:solidFill>
                  <a:srgbClr val="CB3E3E"/>
                </a:solidFill>
                <a:latin typeface="Aptos" panose="020B0004020202020204" pitchFamily="34" charset="0"/>
              </a:rPr>
              <a:t>Security rule: never select pricing from a URL query alone.</a:t>
            </a:r>
            <a:endParaRPr lang="th-TH" sz="1100" b="1">
              <a:solidFill>
                <a:srgbClr val="CB3E3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729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0268C9-874E-E8FF-5D24-C5A12BD27F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B5E6C4-2EB3-C5B4-4D98-4E4343885353}"/>
              </a:ext>
            </a:extLst>
          </p:cNvPr>
          <p:cNvSpPr txBox="1"/>
          <p:nvPr/>
        </p:nvSpPr>
        <p:spPr>
          <a:xfrm>
            <a:off x="609600" y="3048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 b="1">
                <a:solidFill>
                  <a:srgbClr val="0D7A4C"/>
                </a:solidFill>
                <a:latin typeface="Aptos" panose="020B0004020202020204" pitchFamily="34" charset="0"/>
              </a:rPr>
              <a:t>GMS  /  CUSTOMER PORTAL</a:t>
            </a:r>
            <a:endParaRPr lang="th-TH" sz="9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1D636C-1C32-D261-0008-E046FD88E022}"/>
              </a:ext>
            </a:extLst>
          </p:cNvPr>
          <p:cNvSpPr txBox="1"/>
          <p:nvPr/>
        </p:nvSpPr>
        <p:spPr>
          <a:xfrm>
            <a:off x="609600" y="660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0261D"/>
                </a:solidFill>
                <a:latin typeface="Aptos" panose="020B0004020202020204" pitchFamily="34" charset="0"/>
              </a:rPr>
              <a:t>Step 2 - Land on a focused customer home</a:t>
            </a:r>
            <a:endParaRPr lang="th-TH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AEE101-7311-3FAE-9592-638E4A8A3CD5}"/>
              </a:ext>
            </a:extLst>
          </p:cNvPr>
          <p:cNvSpPr txBox="1"/>
          <p:nvPr/>
        </p:nvSpPr>
        <p:spPr>
          <a:xfrm>
            <a:off x="609600" y="1244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95E55"/>
                </a:solidFill>
                <a:latin typeface="Aptos" panose="020B0004020202020204" pitchFamily="34" charset="0"/>
              </a:rPr>
              <a:t>The interface keeps catalogue work visible and removes every internal administration option.</a:t>
            </a:r>
            <a:endParaRPr lang="th-TH" sz="13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782049-8EFB-5A72-2A1D-25DE0873AD49}"/>
              </a:ext>
            </a:extLst>
          </p:cNvPr>
          <p:cNvSpPr txBox="1"/>
          <p:nvPr/>
        </p:nvSpPr>
        <p:spPr>
          <a:xfrm>
            <a:off x="11112500" y="6286500"/>
            <a:ext cx="457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h-TH" sz="1000" b="1">
                <a:solidFill>
                  <a:srgbClr val="495E55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EA0F0E-4F00-8B31-AACB-F8256F3B0901}"/>
              </a:ext>
            </a:extLst>
          </p:cNvPr>
          <p:cNvSpPr txBox="1"/>
          <p:nvPr/>
        </p:nvSpPr>
        <p:spPr>
          <a:xfrm>
            <a:off x="609600" y="6286500"/>
            <a:ext cx="330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>
                <a:solidFill>
                  <a:srgbClr val="495E55"/>
                </a:solidFill>
                <a:latin typeface="Aptos" panose="020B0004020202020204" pitchFamily="34" charset="0"/>
              </a:rPr>
              <a:t>GMS Customer Portal  |  09 Sep 2026</a:t>
            </a:r>
            <a:endParaRPr lang="th-TH" sz="9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A4A105D-0850-5090-FA04-901C375F9C86}"/>
              </a:ext>
            </a:extLst>
          </p:cNvPr>
          <p:cNvSpPr/>
          <p:nvPr/>
        </p:nvSpPr>
        <p:spPr>
          <a:xfrm>
            <a:off x="609600" y="1879600"/>
            <a:ext cx="431800" cy="431800"/>
          </a:xfrm>
          <a:prstGeom prst="ellipse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D82E2C-2982-9CFE-5BF3-89AAAC7371F0}"/>
              </a:ext>
            </a:extLst>
          </p:cNvPr>
          <p:cNvSpPr txBox="1"/>
          <p:nvPr/>
        </p:nvSpPr>
        <p:spPr>
          <a:xfrm>
            <a:off x="609600" y="1879600"/>
            <a:ext cx="4318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th-TH" sz="15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2D948E-72A1-7F21-8D85-FF4B170C9048}"/>
              </a:ext>
            </a:extLst>
          </p:cNvPr>
          <p:cNvSpPr txBox="1"/>
          <p:nvPr/>
        </p:nvSpPr>
        <p:spPr>
          <a:xfrm>
            <a:off x="1219200" y="1879600"/>
            <a:ext cx="4699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2000" b="1">
                <a:solidFill>
                  <a:srgbClr val="10261D"/>
                </a:solidFill>
                <a:latin typeface="Aptos" panose="020B0004020202020204" pitchFamily="34" charset="0"/>
              </a:rPr>
              <a:t>Customer portal structure</a:t>
            </a:r>
            <a:endParaRPr lang="th-TH" sz="20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3319BCD-4657-0989-CCA6-59EC41C9D839}"/>
              </a:ext>
            </a:extLst>
          </p:cNvPr>
          <p:cNvSpPr/>
          <p:nvPr/>
        </p:nvSpPr>
        <p:spPr>
          <a:xfrm>
            <a:off x="609600" y="2565400"/>
            <a:ext cx="107950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6DF17A9-3A18-30EE-D6E4-56FC1BF8A1C0}"/>
              </a:ext>
            </a:extLst>
          </p:cNvPr>
          <p:cNvSpPr/>
          <p:nvPr/>
        </p:nvSpPr>
        <p:spPr>
          <a:xfrm>
            <a:off x="609600" y="2565400"/>
            <a:ext cx="1905000" cy="3200400"/>
          </a:xfrm>
          <a:prstGeom prst="roundRect">
            <a:avLst/>
          </a:prstGeom>
          <a:solidFill>
            <a:srgbClr val="004D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3B1782-0489-9635-C2D2-4E1ADF3141B6}"/>
              </a:ext>
            </a:extLst>
          </p:cNvPr>
          <p:cNvSpPr txBox="1"/>
          <p:nvPr/>
        </p:nvSpPr>
        <p:spPr>
          <a:xfrm>
            <a:off x="863600" y="2819400"/>
            <a:ext cx="1016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2200" b="1">
                <a:solidFill>
                  <a:srgbClr val="FFFFFF"/>
                </a:solidFill>
                <a:latin typeface="Aptos" panose="020B0004020202020204" pitchFamily="34" charset="0"/>
              </a:rPr>
              <a:t>GMS</a:t>
            </a:r>
            <a:endParaRPr lang="th-TH" sz="2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75F7937-CD4C-61F6-B3FE-825016A21976}"/>
              </a:ext>
            </a:extLst>
          </p:cNvPr>
          <p:cNvSpPr/>
          <p:nvPr/>
        </p:nvSpPr>
        <p:spPr>
          <a:xfrm>
            <a:off x="774700" y="3467100"/>
            <a:ext cx="1574800" cy="304800"/>
          </a:xfrm>
          <a:prstGeom prst="roundRect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1EA6FD-43B3-8F8F-0730-6AA27560A9A8}"/>
              </a:ext>
            </a:extLst>
          </p:cNvPr>
          <p:cNvSpPr txBox="1"/>
          <p:nvPr/>
        </p:nvSpPr>
        <p:spPr>
          <a:xfrm>
            <a:off x="977900" y="3517900"/>
            <a:ext cx="127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Home</a:t>
            </a:r>
            <a:endParaRPr lang="th-TH" sz="10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B931E2-95BD-AF3E-9838-78359E4612EC}"/>
              </a:ext>
            </a:extLst>
          </p:cNvPr>
          <p:cNvSpPr txBox="1"/>
          <p:nvPr/>
        </p:nvSpPr>
        <p:spPr>
          <a:xfrm>
            <a:off x="977900" y="3860800"/>
            <a:ext cx="127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000">
                <a:solidFill>
                  <a:srgbClr val="FFFFFF"/>
                </a:solidFill>
                <a:latin typeface="Aptos" panose="020B0004020202020204" pitchFamily="34" charset="0"/>
              </a:rPr>
              <a:t>Catalogues</a:t>
            </a:r>
            <a:endParaRPr lang="th-TH" sz="10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C12068-BC52-599E-7318-B3296DDF6EBD}"/>
              </a:ext>
            </a:extLst>
          </p:cNvPr>
          <p:cNvSpPr txBox="1"/>
          <p:nvPr/>
        </p:nvSpPr>
        <p:spPr>
          <a:xfrm>
            <a:off x="977900" y="4203700"/>
            <a:ext cx="127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000">
                <a:solidFill>
                  <a:srgbClr val="FFFFFF"/>
                </a:solidFill>
                <a:latin typeface="Aptos" panose="020B0004020202020204" pitchFamily="34" charset="0"/>
              </a:rPr>
              <a:t>Promotions</a:t>
            </a:r>
            <a:endParaRPr lang="th-TH" sz="10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6038AF-EF55-9085-69F0-7CD24B0CDA7D}"/>
              </a:ext>
            </a:extLst>
          </p:cNvPr>
          <p:cNvSpPr txBox="1"/>
          <p:nvPr/>
        </p:nvSpPr>
        <p:spPr>
          <a:xfrm>
            <a:off x="977900" y="4546600"/>
            <a:ext cx="127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000">
                <a:solidFill>
                  <a:srgbClr val="FFFFFF"/>
                </a:solidFill>
                <a:latin typeface="Aptos" panose="020B0004020202020204" pitchFamily="34" charset="0"/>
              </a:rPr>
              <a:t>Saved</a:t>
            </a:r>
            <a:endParaRPr lang="th-TH" sz="10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13A115-6CF0-3941-FB1C-4358F3266A17}"/>
              </a:ext>
            </a:extLst>
          </p:cNvPr>
          <p:cNvSpPr txBox="1"/>
          <p:nvPr/>
        </p:nvSpPr>
        <p:spPr>
          <a:xfrm>
            <a:off x="977900" y="4889500"/>
            <a:ext cx="127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000">
                <a:solidFill>
                  <a:srgbClr val="FFFFFF"/>
                </a:solidFill>
                <a:latin typeface="Aptos" panose="020B0004020202020204" pitchFamily="34" charset="0"/>
              </a:rPr>
              <a:t>Downloads</a:t>
            </a:r>
            <a:endParaRPr lang="th-TH" sz="10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F3A827-58E4-29DE-A604-723F6F746D8A}"/>
              </a:ext>
            </a:extLst>
          </p:cNvPr>
          <p:cNvSpPr txBox="1"/>
          <p:nvPr/>
        </p:nvSpPr>
        <p:spPr>
          <a:xfrm>
            <a:off x="977900" y="5232400"/>
            <a:ext cx="127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000">
                <a:solidFill>
                  <a:srgbClr val="FFFFFF"/>
                </a:solidFill>
                <a:latin typeface="Aptos" panose="020B0004020202020204" pitchFamily="34" charset="0"/>
              </a:rPr>
              <a:t>Help</a:t>
            </a:r>
            <a:endParaRPr lang="th-TH" sz="10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3A0135-F293-7B94-3472-6A8A878C2D42}"/>
              </a:ext>
            </a:extLst>
          </p:cNvPr>
          <p:cNvSpPr/>
          <p:nvPr/>
        </p:nvSpPr>
        <p:spPr>
          <a:xfrm>
            <a:off x="2514600" y="2565400"/>
            <a:ext cx="8890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12B1AB-8029-D203-19D9-43DAEE564E67}"/>
              </a:ext>
            </a:extLst>
          </p:cNvPr>
          <p:cNvSpPr txBox="1"/>
          <p:nvPr/>
        </p:nvSpPr>
        <p:spPr>
          <a:xfrm>
            <a:off x="2844800" y="2730500"/>
            <a:ext cx="4508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000">
                <a:solidFill>
                  <a:srgbClr val="495E55"/>
                </a:solidFill>
                <a:latin typeface="Aptos" panose="020B0004020202020204" pitchFamily="34" charset="0"/>
              </a:rPr>
              <a:t>Search catalogues, brands or promotions</a:t>
            </a:r>
            <a:endParaRPr lang="th-TH" sz="10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E9DD7B-14AA-F477-CE43-3F6F8FE7B116}"/>
              </a:ext>
            </a:extLst>
          </p:cNvPr>
          <p:cNvSpPr txBox="1"/>
          <p:nvPr/>
        </p:nvSpPr>
        <p:spPr>
          <a:xfrm>
            <a:off x="8255000" y="27305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900" b="1">
                <a:solidFill>
                  <a:srgbClr val="10261D"/>
                </a:solidFill>
                <a:latin typeface="Aptos" panose="020B0004020202020204" pitchFamily="34" charset="0"/>
              </a:rPr>
              <a:t>EN  |  TH     Help     Siam Retail Co.</a:t>
            </a:r>
            <a:endParaRPr lang="th-TH" sz="9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3C5482-AD4B-F786-7721-D6AEF95D9E88}"/>
              </a:ext>
            </a:extLst>
          </p:cNvPr>
          <p:cNvSpPr txBox="1"/>
          <p:nvPr/>
        </p:nvSpPr>
        <p:spPr>
          <a:xfrm>
            <a:off x="2819400" y="3378200"/>
            <a:ext cx="6096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2200" b="1">
                <a:solidFill>
                  <a:srgbClr val="10261D"/>
                </a:solidFill>
                <a:latin typeface="Aptos" panose="020B0004020202020204" pitchFamily="34" charset="0"/>
              </a:rPr>
              <a:t>Good morning, Siam Retail</a:t>
            </a:r>
            <a:endParaRPr lang="th-TH" sz="22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8EA61E4-A5B3-C34D-1E09-90EA197B153A}"/>
              </a:ext>
            </a:extLst>
          </p:cNvPr>
          <p:cNvSpPr/>
          <p:nvPr/>
        </p:nvSpPr>
        <p:spPr>
          <a:xfrm>
            <a:off x="2819400" y="3886200"/>
            <a:ext cx="1778000" cy="317500"/>
          </a:xfrm>
          <a:prstGeom prst="roundRect">
            <a:avLst/>
          </a:prstGeom>
          <a:solidFill>
            <a:srgbClr val="DDF3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BFDDBA-00E0-521B-1154-B55378A32DB6}"/>
              </a:ext>
            </a:extLst>
          </p:cNvPr>
          <p:cNvSpPr txBox="1"/>
          <p:nvPr/>
        </p:nvSpPr>
        <p:spPr>
          <a:xfrm>
            <a:off x="2921000" y="3898900"/>
            <a:ext cx="15748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GB" sz="1000" b="1">
                <a:solidFill>
                  <a:srgbClr val="004D33"/>
                </a:solidFill>
                <a:latin typeface="Aptos" panose="020B0004020202020204" pitchFamily="34" charset="0"/>
              </a:rPr>
              <a:t>VIP BKK PRICING</a:t>
            </a:r>
            <a:endParaRPr lang="th-TH" sz="1000" b="1">
              <a:solidFill>
                <a:srgbClr val="004D33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BEED9C7-4EE9-08EA-6C36-209BF1677543}"/>
              </a:ext>
            </a:extLst>
          </p:cNvPr>
          <p:cNvSpPr/>
          <p:nvPr/>
        </p:nvSpPr>
        <p:spPr>
          <a:xfrm>
            <a:off x="2819400" y="4483100"/>
            <a:ext cx="2413000" cy="965200"/>
          </a:xfrm>
          <a:prstGeom prst="roundRect">
            <a:avLst/>
          </a:prstGeom>
          <a:solidFill>
            <a:srgbClr val="EFF9F3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837E13-8D3A-1F9A-2FCD-6725479A3657}"/>
              </a:ext>
            </a:extLst>
          </p:cNvPr>
          <p:cNvSpPr txBox="1"/>
          <p:nvPr/>
        </p:nvSpPr>
        <p:spPr>
          <a:xfrm>
            <a:off x="2984500" y="4686300"/>
            <a:ext cx="203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000">
                <a:solidFill>
                  <a:srgbClr val="495E55"/>
                </a:solidFill>
                <a:latin typeface="Aptos" panose="020B0004020202020204" pitchFamily="34" charset="0"/>
              </a:rPr>
              <a:t>Published catalogues</a:t>
            </a:r>
            <a:endParaRPr lang="th-TH" sz="10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B2BA3F-DA40-4D2C-510A-B7D1C7495052}"/>
              </a:ext>
            </a:extLst>
          </p:cNvPr>
          <p:cNvSpPr txBox="1"/>
          <p:nvPr/>
        </p:nvSpPr>
        <p:spPr>
          <a:xfrm>
            <a:off x="2984500" y="4953000"/>
            <a:ext cx="63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800" b="1">
                <a:solidFill>
                  <a:srgbClr val="004D33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18B8035-97CE-F964-45A2-D13CB12383FE}"/>
              </a:ext>
            </a:extLst>
          </p:cNvPr>
          <p:cNvSpPr/>
          <p:nvPr/>
        </p:nvSpPr>
        <p:spPr>
          <a:xfrm>
            <a:off x="5461000" y="4483100"/>
            <a:ext cx="2413000" cy="965200"/>
          </a:xfrm>
          <a:prstGeom prst="roundRect">
            <a:avLst/>
          </a:prstGeom>
          <a:solidFill>
            <a:srgbClr val="EFF9F3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8039A8-78DE-B691-91AE-CA9302B63C14}"/>
              </a:ext>
            </a:extLst>
          </p:cNvPr>
          <p:cNvSpPr txBox="1"/>
          <p:nvPr/>
        </p:nvSpPr>
        <p:spPr>
          <a:xfrm>
            <a:off x="5626100" y="4686300"/>
            <a:ext cx="203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000">
                <a:solidFill>
                  <a:srgbClr val="495E55"/>
                </a:solidFill>
                <a:latin typeface="Aptos" panose="020B0004020202020204" pitchFamily="34" charset="0"/>
              </a:rPr>
              <a:t>Active promotions</a:t>
            </a:r>
            <a:endParaRPr lang="th-TH" sz="10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0DD6AF-E90A-64E0-687C-BE9AE4B7E936}"/>
              </a:ext>
            </a:extLst>
          </p:cNvPr>
          <p:cNvSpPr txBox="1"/>
          <p:nvPr/>
        </p:nvSpPr>
        <p:spPr>
          <a:xfrm>
            <a:off x="5626100" y="4953000"/>
            <a:ext cx="63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800" b="1">
                <a:solidFill>
                  <a:srgbClr val="004D33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E0D2B03-EDAC-C65A-0EC2-03B6B9005848}"/>
              </a:ext>
            </a:extLst>
          </p:cNvPr>
          <p:cNvSpPr/>
          <p:nvPr/>
        </p:nvSpPr>
        <p:spPr>
          <a:xfrm>
            <a:off x="8102600" y="4483100"/>
            <a:ext cx="2413000" cy="965200"/>
          </a:xfrm>
          <a:prstGeom prst="roundRect">
            <a:avLst/>
          </a:prstGeom>
          <a:solidFill>
            <a:srgbClr val="EFF9F3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63F288-12AC-F09C-FA29-7C508367169F}"/>
              </a:ext>
            </a:extLst>
          </p:cNvPr>
          <p:cNvSpPr txBox="1"/>
          <p:nvPr/>
        </p:nvSpPr>
        <p:spPr>
          <a:xfrm>
            <a:off x="8267700" y="4686300"/>
            <a:ext cx="203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000">
                <a:solidFill>
                  <a:srgbClr val="495E55"/>
                </a:solidFill>
                <a:latin typeface="Aptos" panose="020B0004020202020204" pitchFamily="34" charset="0"/>
              </a:rPr>
              <a:t>Recent downloads</a:t>
            </a:r>
            <a:endParaRPr lang="th-TH" sz="10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079B99-5553-75B8-67E1-9F82735C3CF8}"/>
              </a:ext>
            </a:extLst>
          </p:cNvPr>
          <p:cNvSpPr txBox="1"/>
          <p:nvPr/>
        </p:nvSpPr>
        <p:spPr>
          <a:xfrm>
            <a:off x="8267700" y="4953000"/>
            <a:ext cx="63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800" b="1">
                <a:solidFill>
                  <a:srgbClr val="004D33"/>
                </a:solidFill>
                <a:latin typeface="Aptos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85095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6212C7-A9B5-EDF2-5E8F-7D7965E1B7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3C4574-AFC9-7C43-5AEF-608D3E6254D7}"/>
              </a:ext>
            </a:extLst>
          </p:cNvPr>
          <p:cNvSpPr txBox="1"/>
          <p:nvPr/>
        </p:nvSpPr>
        <p:spPr>
          <a:xfrm>
            <a:off x="609600" y="3048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 b="1">
                <a:solidFill>
                  <a:srgbClr val="0D7A4C"/>
                </a:solidFill>
                <a:latin typeface="Aptos" panose="020B0004020202020204" pitchFamily="34" charset="0"/>
              </a:rPr>
              <a:t>GMS  /  CUSTOMER PORTAL</a:t>
            </a:r>
            <a:endParaRPr lang="th-TH" sz="9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A5FA5D-34E5-B0FD-3261-C3BDC909F3B7}"/>
              </a:ext>
            </a:extLst>
          </p:cNvPr>
          <p:cNvSpPr txBox="1"/>
          <p:nvPr/>
        </p:nvSpPr>
        <p:spPr>
          <a:xfrm>
            <a:off x="609600" y="660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0261D"/>
                </a:solidFill>
                <a:latin typeface="Aptos" panose="020B0004020202020204" pitchFamily="34" charset="0"/>
              </a:rPr>
              <a:t>Step 3 - Browse only published catalogues</a:t>
            </a:r>
            <a:endParaRPr lang="th-TH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F0153-3EFD-2343-2417-7214B6A20E59}"/>
              </a:ext>
            </a:extLst>
          </p:cNvPr>
          <p:cNvSpPr txBox="1"/>
          <p:nvPr/>
        </p:nvSpPr>
        <p:spPr>
          <a:xfrm>
            <a:off x="609600" y="1244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95E55"/>
                </a:solidFill>
                <a:latin typeface="Aptos" panose="020B0004020202020204" pitchFamily="34" charset="0"/>
              </a:rPr>
              <a:t>Every card uses the real cover and the customer-specific public link.</a:t>
            </a:r>
            <a:endParaRPr lang="th-TH" sz="13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AB07CF-0E01-2145-6E10-9F2AEB63871C}"/>
              </a:ext>
            </a:extLst>
          </p:cNvPr>
          <p:cNvSpPr txBox="1"/>
          <p:nvPr/>
        </p:nvSpPr>
        <p:spPr>
          <a:xfrm>
            <a:off x="11112500" y="6286500"/>
            <a:ext cx="457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h-TH" sz="1000" b="1">
                <a:solidFill>
                  <a:srgbClr val="495E55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58D100-0105-5EDE-E312-07B61E0F42D2}"/>
              </a:ext>
            </a:extLst>
          </p:cNvPr>
          <p:cNvSpPr txBox="1"/>
          <p:nvPr/>
        </p:nvSpPr>
        <p:spPr>
          <a:xfrm>
            <a:off x="609600" y="6286500"/>
            <a:ext cx="330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>
                <a:solidFill>
                  <a:srgbClr val="495E55"/>
                </a:solidFill>
                <a:latin typeface="Aptos" panose="020B0004020202020204" pitchFamily="34" charset="0"/>
              </a:rPr>
              <a:t>GMS Customer Portal  |  09 Sep 2026</a:t>
            </a:r>
            <a:endParaRPr lang="th-TH" sz="9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40AB25B-DC29-2ACC-1D85-51F93E7E09C8}"/>
              </a:ext>
            </a:extLst>
          </p:cNvPr>
          <p:cNvSpPr/>
          <p:nvPr/>
        </p:nvSpPr>
        <p:spPr>
          <a:xfrm>
            <a:off x="609600" y="1866900"/>
            <a:ext cx="431800" cy="431800"/>
          </a:xfrm>
          <a:prstGeom prst="ellipse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F2B0F4-640F-5389-C54B-A7B2DEBA66DA}"/>
              </a:ext>
            </a:extLst>
          </p:cNvPr>
          <p:cNvSpPr txBox="1"/>
          <p:nvPr/>
        </p:nvSpPr>
        <p:spPr>
          <a:xfrm>
            <a:off x="609600" y="1866900"/>
            <a:ext cx="4318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th-TH" sz="15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193199-9F8A-3ABE-B861-1B5FA177D47C}"/>
              </a:ext>
            </a:extLst>
          </p:cNvPr>
          <p:cNvSpPr txBox="1"/>
          <p:nvPr/>
        </p:nvSpPr>
        <p:spPr>
          <a:xfrm>
            <a:off x="1219200" y="1879600"/>
            <a:ext cx="406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2000" b="1">
                <a:solidFill>
                  <a:srgbClr val="10261D"/>
                </a:solidFill>
                <a:latin typeface="Aptos" panose="020B0004020202020204" pitchFamily="34" charset="0"/>
              </a:rPr>
              <a:t>What customers can do</a:t>
            </a:r>
            <a:endParaRPr lang="th-TH" sz="20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65603A6-4F4F-D976-83E7-5B098E9395F6}"/>
              </a:ext>
            </a:extLst>
          </p:cNvPr>
          <p:cNvSpPr/>
          <p:nvPr/>
        </p:nvSpPr>
        <p:spPr>
          <a:xfrm>
            <a:off x="723900" y="2717800"/>
            <a:ext cx="127000" cy="127000"/>
          </a:xfrm>
          <a:prstGeom prst="ellipse">
            <a:avLst/>
          </a:prstGeom>
          <a:solidFill>
            <a:srgbClr val="1DA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9EA706-C543-6ED7-559C-ABE84EF8C32B}"/>
              </a:ext>
            </a:extLst>
          </p:cNvPr>
          <p:cNvSpPr txBox="1"/>
          <p:nvPr/>
        </p:nvSpPr>
        <p:spPr>
          <a:xfrm>
            <a:off x="1003300" y="2628900"/>
            <a:ext cx="4546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>
                <a:solidFill>
                  <a:srgbClr val="10261D"/>
                </a:solidFill>
                <a:latin typeface="Aptos" panose="020B0004020202020204" pitchFamily="34" charset="0"/>
              </a:rPr>
              <a:t>Search by catalogue title or brand</a:t>
            </a:r>
            <a:endParaRPr lang="th-TH" sz="13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8FB3E40-706C-475E-6745-390611962F77}"/>
              </a:ext>
            </a:extLst>
          </p:cNvPr>
          <p:cNvSpPr/>
          <p:nvPr/>
        </p:nvSpPr>
        <p:spPr>
          <a:xfrm>
            <a:off x="723900" y="3314700"/>
            <a:ext cx="127000" cy="127000"/>
          </a:xfrm>
          <a:prstGeom prst="ellipse">
            <a:avLst/>
          </a:prstGeom>
          <a:solidFill>
            <a:srgbClr val="1DA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DBADE7-DAF4-692F-AAD5-FE668FE68D4F}"/>
              </a:ext>
            </a:extLst>
          </p:cNvPr>
          <p:cNvSpPr txBox="1"/>
          <p:nvPr/>
        </p:nvSpPr>
        <p:spPr>
          <a:xfrm>
            <a:off x="1003300" y="3225800"/>
            <a:ext cx="4546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>
                <a:solidFill>
                  <a:srgbClr val="10261D"/>
                </a:solidFill>
                <a:latin typeface="Aptos" panose="020B0004020202020204" pitchFamily="34" charset="0"/>
              </a:rPr>
              <a:t>See the full catalogue cover</a:t>
            </a:r>
            <a:endParaRPr lang="th-TH" sz="13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CD5D7A0-63C6-14D5-BD0C-E532A804D8F9}"/>
              </a:ext>
            </a:extLst>
          </p:cNvPr>
          <p:cNvSpPr/>
          <p:nvPr/>
        </p:nvSpPr>
        <p:spPr>
          <a:xfrm>
            <a:off x="723900" y="3911600"/>
            <a:ext cx="127000" cy="127000"/>
          </a:xfrm>
          <a:prstGeom prst="ellipse">
            <a:avLst/>
          </a:prstGeom>
          <a:solidFill>
            <a:srgbClr val="1DA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662285-2A6D-FB11-58B1-9B24D3CA6798}"/>
              </a:ext>
            </a:extLst>
          </p:cNvPr>
          <p:cNvSpPr txBox="1"/>
          <p:nvPr/>
        </p:nvSpPr>
        <p:spPr>
          <a:xfrm>
            <a:off x="1003300" y="3822700"/>
            <a:ext cx="4546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300">
                <a:solidFill>
                  <a:srgbClr val="10261D"/>
                </a:solidFill>
                <a:latin typeface="Aptos" panose="020B0004020202020204" pitchFamily="34" charset="0"/>
              </a:rPr>
              <a:t>Open the customer-priced catalogue</a:t>
            </a:r>
            <a:endParaRPr lang="th-TH" sz="13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358BAB-F632-EBB8-13F2-D811D5CD033F}"/>
              </a:ext>
            </a:extLst>
          </p:cNvPr>
          <p:cNvSpPr/>
          <p:nvPr/>
        </p:nvSpPr>
        <p:spPr>
          <a:xfrm>
            <a:off x="723900" y="4508500"/>
            <a:ext cx="127000" cy="127000"/>
          </a:xfrm>
          <a:prstGeom prst="ellipse">
            <a:avLst/>
          </a:prstGeom>
          <a:solidFill>
            <a:srgbClr val="1DA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A24AE9-1EB9-B721-917E-844090BF6D58}"/>
              </a:ext>
            </a:extLst>
          </p:cNvPr>
          <p:cNvSpPr txBox="1"/>
          <p:nvPr/>
        </p:nvSpPr>
        <p:spPr>
          <a:xfrm>
            <a:off x="1003300" y="4419600"/>
            <a:ext cx="4546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>
                <a:solidFill>
                  <a:srgbClr val="10261D"/>
                </a:solidFill>
                <a:latin typeface="Aptos" panose="020B0004020202020204" pitchFamily="34" charset="0"/>
              </a:rPr>
              <a:t>Save favourites and download PDF</a:t>
            </a:r>
            <a:endParaRPr lang="th-TH" sz="13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1BCE1D7-AA7A-4710-1D45-D700FBBB0156}"/>
              </a:ext>
            </a:extLst>
          </p:cNvPr>
          <p:cNvSpPr/>
          <p:nvPr/>
        </p:nvSpPr>
        <p:spPr>
          <a:xfrm>
            <a:off x="6350000" y="1841500"/>
            <a:ext cx="4445000" cy="400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7D434C2-6CD0-22F5-E91A-D204B51D10B2}"/>
              </a:ext>
            </a:extLst>
          </p:cNvPr>
          <p:cNvSpPr/>
          <p:nvPr/>
        </p:nvSpPr>
        <p:spPr>
          <a:xfrm>
            <a:off x="6604000" y="2108200"/>
            <a:ext cx="1625600" cy="2717800"/>
          </a:xfrm>
          <a:prstGeom prst="roundRect">
            <a:avLst/>
          </a:prstGeom>
          <a:solidFill>
            <a:srgbClr val="004D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5C48BD-AFAC-D9E6-9456-07D7AAD8BA05}"/>
              </a:ext>
            </a:extLst>
          </p:cNvPr>
          <p:cNvSpPr txBox="1"/>
          <p:nvPr/>
        </p:nvSpPr>
        <p:spPr>
          <a:xfrm>
            <a:off x="6794500" y="2679700"/>
            <a:ext cx="1244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GB" sz="1800" b="1">
                <a:solidFill>
                  <a:srgbClr val="FFFFFF"/>
                </a:solidFill>
                <a:latin typeface="Aptos" panose="020B0004020202020204" pitchFamily="34" charset="0"/>
              </a:rPr>
              <a:t>NUBWO</a:t>
            </a:r>
            <a:endParaRPr lang="th-TH" sz="1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652858-A6E9-94D3-D0E4-41DEB6B948CB}"/>
              </a:ext>
            </a:extLst>
          </p:cNvPr>
          <p:cNvSpPr txBox="1"/>
          <p:nvPr/>
        </p:nvSpPr>
        <p:spPr>
          <a:xfrm>
            <a:off x="6794500" y="3111500"/>
            <a:ext cx="1244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GB" sz="2100" b="1">
                <a:solidFill>
                  <a:srgbClr val="DDF3E7"/>
                </a:solidFill>
                <a:latin typeface="Aptos" panose="020B0004020202020204" pitchFamily="34" charset="0"/>
              </a:rPr>
              <a:t>X-SERIES
2026</a:t>
            </a:r>
            <a:endParaRPr lang="th-TH" sz="2100" b="1">
              <a:solidFill>
                <a:srgbClr val="DDF3E7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0F26F4-7D67-1649-D060-4D9C9E2002D6}"/>
              </a:ext>
            </a:extLst>
          </p:cNvPr>
          <p:cNvSpPr txBox="1"/>
          <p:nvPr/>
        </p:nvSpPr>
        <p:spPr>
          <a:xfrm>
            <a:off x="8534400" y="2235200"/>
            <a:ext cx="19558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600" b="1">
                <a:solidFill>
                  <a:srgbClr val="10261D"/>
                </a:solidFill>
                <a:latin typeface="Aptos" panose="020B0004020202020204" pitchFamily="34" charset="0"/>
              </a:rPr>
              <a:t>Nubwo X-Series 2026</a:t>
            </a:r>
            <a:endParaRPr lang="th-TH" sz="16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6DDEBB7-55C3-55F7-AF98-AFA96B1ABEDE}"/>
              </a:ext>
            </a:extLst>
          </p:cNvPr>
          <p:cNvSpPr/>
          <p:nvPr/>
        </p:nvSpPr>
        <p:spPr>
          <a:xfrm>
            <a:off x="8534400" y="2946400"/>
            <a:ext cx="1270000" cy="317500"/>
          </a:xfrm>
          <a:prstGeom prst="roundRect">
            <a:avLst/>
          </a:prstGeom>
          <a:solidFill>
            <a:srgbClr val="DDF3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8E5588-3123-878B-B0E3-5E17111A2C45}"/>
              </a:ext>
            </a:extLst>
          </p:cNvPr>
          <p:cNvSpPr txBox="1"/>
          <p:nvPr/>
        </p:nvSpPr>
        <p:spPr>
          <a:xfrm>
            <a:off x="8636000" y="2959100"/>
            <a:ext cx="10668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GB" sz="1000" b="1">
                <a:solidFill>
                  <a:srgbClr val="004D33"/>
                </a:solidFill>
                <a:latin typeface="Aptos" panose="020B0004020202020204" pitchFamily="34" charset="0"/>
              </a:rPr>
              <a:t>PUBLISHED</a:t>
            </a:r>
            <a:endParaRPr lang="th-TH" sz="1000" b="1">
              <a:solidFill>
                <a:srgbClr val="004D33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23F20D-0D83-C2CE-D451-1E2EFB1CC23F}"/>
              </a:ext>
            </a:extLst>
          </p:cNvPr>
          <p:cNvSpPr txBox="1"/>
          <p:nvPr/>
        </p:nvSpPr>
        <p:spPr>
          <a:xfrm>
            <a:off x="8534400" y="3467100"/>
            <a:ext cx="1841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495E55"/>
                </a:solidFill>
                <a:latin typeface="Aptos" panose="020B0004020202020204" pitchFamily="34" charset="0"/>
              </a:rPr>
              <a:t>24 products
Updated 12 Aug 2026</a:t>
            </a:r>
            <a:endParaRPr lang="th-TH" sz="11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6B056BE-17AA-963A-6950-BEFDC1768B69}"/>
              </a:ext>
            </a:extLst>
          </p:cNvPr>
          <p:cNvSpPr/>
          <p:nvPr/>
        </p:nvSpPr>
        <p:spPr>
          <a:xfrm>
            <a:off x="8534400" y="4229100"/>
            <a:ext cx="1930400" cy="482600"/>
          </a:xfrm>
          <a:prstGeom prst="roundRect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DCF6C9-76E8-40B4-66DA-988C1467A782}"/>
              </a:ext>
            </a:extLst>
          </p:cNvPr>
          <p:cNvSpPr txBox="1"/>
          <p:nvPr/>
        </p:nvSpPr>
        <p:spPr>
          <a:xfrm>
            <a:off x="8686800" y="4330700"/>
            <a:ext cx="1625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Open catalogue  &gt;</a:t>
            </a:r>
            <a:endParaRPr lang="th-TH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42033DF-663E-F378-BCE9-3A24F1FA6191}"/>
              </a:ext>
            </a:extLst>
          </p:cNvPr>
          <p:cNvSpPr/>
          <p:nvPr/>
        </p:nvSpPr>
        <p:spPr>
          <a:xfrm>
            <a:off x="8534400" y="4851400"/>
            <a:ext cx="1930400" cy="482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7A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CEDE43-2A24-3281-6945-3234D7032EB5}"/>
              </a:ext>
            </a:extLst>
          </p:cNvPr>
          <p:cNvSpPr txBox="1"/>
          <p:nvPr/>
        </p:nvSpPr>
        <p:spPr>
          <a:xfrm>
            <a:off x="8686800" y="4953000"/>
            <a:ext cx="1625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GB" sz="1100" b="1">
                <a:solidFill>
                  <a:srgbClr val="004D33"/>
                </a:solidFill>
                <a:latin typeface="Aptos" panose="020B0004020202020204" pitchFamily="34" charset="0"/>
              </a:rPr>
              <a:t>Download PDF</a:t>
            </a:r>
            <a:endParaRPr lang="th-TH" sz="1100" b="1">
              <a:solidFill>
                <a:srgbClr val="004D33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3AD011-7E8B-645F-8290-7BF6E5C07F21}"/>
              </a:ext>
            </a:extLst>
          </p:cNvPr>
          <p:cNvSpPr txBox="1"/>
          <p:nvPr/>
        </p:nvSpPr>
        <p:spPr>
          <a:xfrm>
            <a:off x="6350000" y="6083300"/>
            <a:ext cx="444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CB3E3E"/>
                </a:solidFill>
                <a:latin typeface="Aptos" panose="020B0004020202020204" pitchFamily="34" charset="0"/>
              </a:rPr>
              <a:t>Hidden automatically: Draft | Archived | Expired links</a:t>
            </a:r>
            <a:endParaRPr lang="th-TH" sz="1000" b="1">
              <a:solidFill>
                <a:srgbClr val="CB3E3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396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733625-5F0A-6CFD-1E64-E7FF08E770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0C6464-ECD5-2137-7928-94AAF66FAA1F}"/>
              </a:ext>
            </a:extLst>
          </p:cNvPr>
          <p:cNvSpPr txBox="1"/>
          <p:nvPr/>
        </p:nvSpPr>
        <p:spPr>
          <a:xfrm>
            <a:off x="609600" y="3048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 b="1">
                <a:solidFill>
                  <a:srgbClr val="0D7A4C"/>
                </a:solidFill>
                <a:latin typeface="Aptos" panose="020B0004020202020204" pitchFamily="34" charset="0"/>
              </a:rPr>
              <a:t>GMS  /  CUSTOMER PORTAL</a:t>
            </a:r>
            <a:endParaRPr lang="th-TH" sz="9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6F16DF-CBA1-63C9-6BCB-F8C7E3102CAF}"/>
              </a:ext>
            </a:extLst>
          </p:cNvPr>
          <p:cNvSpPr txBox="1"/>
          <p:nvPr/>
        </p:nvSpPr>
        <p:spPr>
          <a:xfrm>
            <a:off x="609600" y="660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0261D"/>
                </a:solidFill>
                <a:latin typeface="Aptos" panose="020B0004020202020204" pitchFamily="34" charset="0"/>
              </a:rPr>
              <a:t>Step 4 - Resolve the correct brand price</a:t>
            </a:r>
            <a:endParaRPr lang="th-TH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10FE0A-CF17-91E5-7D65-44C83B546251}"/>
              </a:ext>
            </a:extLst>
          </p:cNvPr>
          <p:cNvSpPr txBox="1"/>
          <p:nvPr/>
        </p:nvSpPr>
        <p:spPr>
          <a:xfrm>
            <a:off x="609600" y="1244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95E55"/>
                </a:solidFill>
                <a:latin typeface="Aptos" panose="020B0004020202020204" pitchFamily="34" charset="0"/>
              </a:rPr>
              <a:t>Pricing is decided per product, not once for the whole catalogue.</a:t>
            </a:r>
            <a:endParaRPr lang="th-TH" sz="13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5BC330-E54B-AD94-556E-918FB7C80CA5}"/>
              </a:ext>
            </a:extLst>
          </p:cNvPr>
          <p:cNvSpPr txBox="1"/>
          <p:nvPr/>
        </p:nvSpPr>
        <p:spPr>
          <a:xfrm>
            <a:off x="11112500" y="6286500"/>
            <a:ext cx="457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h-TH" sz="1000" b="1">
                <a:solidFill>
                  <a:srgbClr val="495E55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AC03C1-D8B3-4C5C-7F60-8175B8227A6C}"/>
              </a:ext>
            </a:extLst>
          </p:cNvPr>
          <p:cNvSpPr txBox="1"/>
          <p:nvPr/>
        </p:nvSpPr>
        <p:spPr>
          <a:xfrm>
            <a:off x="609600" y="6286500"/>
            <a:ext cx="330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>
                <a:solidFill>
                  <a:srgbClr val="495E55"/>
                </a:solidFill>
                <a:latin typeface="Aptos" panose="020B0004020202020204" pitchFamily="34" charset="0"/>
              </a:rPr>
              <a:t>GMS Customer Portal  |  09 Sep 2026</a:t>
            </a:r>
            <a:endParaRPr lang="th-TH" sz="9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AE45833-8744-C83D-2A8B-8D5574435313}"/>
              </a:ext>
            </a:extLst>
          </p:cNvPr>
          <p:cNvSpPr/>
          <p:nvPr/>
        </p:nvSpPr>
        <p:spPr>
          <a:xfrm>
            <a:off x="609600" y="1866900"/>
            <a:ext cx="431800" cy="431800"/>
          </a:xfrm>
          <a:prstGeom prst="ellipse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EFF1D0-2389-D409-0EEA-6D741580B0F3}"/>
              </a:ext>
            </a:extLst>
          </p:cNvPr>
          <p:cNvSpPr txBox="1"/>
          <p:nvPr/>
        </p:nvSpPr>
        <p:spPr>
          <a:xfrm>
            <a:off x="609600" y="1866900"/>
            <a:ext cx="4318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th-TH" sz="15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6452D8-3ED6-F149-0562-5B119ED413E3}"/>
              </a:ext>
            </a:extLst>
          </p:cNvPr>
          <p:cNvSpPr txBox="1"/>
          <p:nvPr/>
        </p:nvSpPr>
        <p:spPr>
          <a:xfrm>
            <a:off x="1219200" y="1879600"/>
            <a:ext cx="3556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2000" b="1">
                <a:solidFill>
                  <a:srgbClr val="10261D"/>
                </a:solidFill>
                <a:latin typeface="Aptos" panose="020B0004020202020204" pitchFamily="34" charset="0"/>
              </a:rPr>
              <a:t>Resolution sequence</a:t>
            </a:r>
            <a:endParaRPr lang="th-TH" sz="20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1EAD191-5D69-FA27-BE3C-D80C28821398}"/>
              </a:ext>
            </a:extLst>
          </p:cNvPr>
          <p:cNvSpPr/>
          <p:nvPr/>
        </p:nvSpPr>
        <p:spPr>
          <a:xfrm>
            <a:off x="622300" y="2743200"/>
            <a:ext cx="23368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0BBFD0-0130-EDBF-D3F4-81AA5A40BEC0}"/>
              </a:ext>
            </a:extLst>
          </p:cNvPr>
          <p:cNvSpPr txBox="1"/>
          <p:nvPr/>
        </p:nvSpPr>
        <p:spPr>
          <a:xfrm>
            <a:off x="800100" y="29210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000" b="1">
                <a:solidFill>
                  <a:srgbClr val="0D7A4C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2754DE-30C9-2FDE-698C-75D9438E731C}"/>
              </a:ext>
            </a:extLst>
          </p:cNvPr>
          <p:cNvSpPr txBox="1"/>
          <p:nvPr/>
        </p:nvSpPr>
        <p:spPr>
          <a:xfrm>
            <a:off x="800100" y="3200400"/>
            <a:ext cx="1968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200" b="1">
                <a:solidFill>
                  <a:srgbClr val="10261D"/>
                </a:solidFill>
                <a:latin typeface="Aptos" panose="020B0004020202020204" pitchFamily="34" charset="0"/>
              </a:rPr>
              <a:t>Customer profile</a:t>
            </a:r>
            <a:endParaRPr lang="th-TH" sz="12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BE5779E-764E-9356-9410-9876B4CC15E7}"/>
              </a:ext>
            </a:extLst>
          </p:cNvPr>
          <p:cNvCxnSpPr/>
          <p:nvPr/>
        </p:nvCxnSpPr>
        <p:spPr>
          <a:xfrm>
            <a:off x="2959100" y="3213100"/>
            <a:ext cx="355600" cy="0"/>
          </a:xfrm>
          <a:prstGeom prst="line">
            <a:avLst/>
          </a:prstGeom>
          <a:ln w="28575">
            <a:solidFill>
              <a:srgbClr val="0D7A4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CFA73A8-D60A-A3CA-7AA4-F851A5A578C7}"/>
              </a:ext>
            </a:extLst>
          </p:cNvPr>
          <p:cNvSpPr/>
          <p:nvPr/>
        </p:nvSpPr>
        <p:spPr>
          <a:xfrm>
            <a:off x="3378200" y="2743200"/>
            <a:ext cx="23368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3D0254-DF92-6C65-95D8-DC23F4FD7293}"/>
              </a:ext>
            </a:extLst>
          </p:cNvPr>
          <p:cNvSpPr txBox="1"/>
          <p:nvPr/>
        </p:nvSpPr>
        <p:spPr>
          <a:xfrm>
            <a:off x="3556000" y="29210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000" b="1">
                <a:solidFill>
                  <a:srgbClr val="0D7A4C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872077-50D3-B6CD-C958-D5D893FECC3C}"/>
              </a:ext>
            </a:extLst>
          </p:cNvPr>
          <p:cNvSpPr txBox="1"/>
          <p:nvPr/>
        </p:nvSpPr>
        <p:spPr>
          <a:xfrm>
            <a:off x="3556000" y="3200400"/>
            <a:ext cx="1968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200" b="1">
                <a:solidFill>
                  <a:srgbClr val="10261D"/>
                </a:solidFill>
                <a:latin typeface="Aptos" panose="020B0004020202020204" pitchFamily="34" charset="0"/>
              </a:rPr>
              <a:t>Product brand</a:t>
            </a:r>
            <a:endParaRPr lang="th-TH" sz="12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FE6B54-376A-3B3F-EBF9-62933F520A22}"/>
              </a:ext>
            </a:extLst>
          </p:cNvPr>
          <p:cNvCxnSpPr/>
          <p:nvPr/>
        </p:nvCxnSpPr>
        <p:spPr>
          <a:xfrm>
            <a:off x="5715000" y="3213100"/>
            <a:ext cx="355600" cy="0"/>
          </a:xfrm>
          <a:prstGeom prst="line">
            <a:avLst/>
          </a:prstGeom>
          <a:ln w="28575">
            <a:solidFill>
              <a:srgbClr val="0D7A4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724F31B-9A36-E335-123B-B30AB57582DC}"/>
              </a:ext>
            </a:extLst>
          </p:cNvPr>
          <p:cNvSpPr/>
          <p:nvPr/>
        </p:nvSpPr>
        <p:spPr>
          <a:xfrm>
            <a:off x="6134100" y="2743200"/>
            <a:ext cx="23368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806943-96ED-8FB4-F6C3-8BC44AC07E8A}"/>
              </a:ext>
            </a:extLst>
          </p:cNvPr>
          <p:cNvSpPr txBox="1"/>
          <p:nvPr/>
        </p:nvSpPr>
        <p:spPr>
          <a:xfrm>
            <a:off x="6311900" y="29210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000" b="1">
                <a:solidFill>
                  <a:srgbClr val="0D7A4C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2377BA-BC19-75D6-C047-92471C542A46}"/>
              </a:ext>
            </a:extLst>
          </p:cNvPr>
          <p:cNvSpPr txBox="1"/>
          <p:nvPr/>
        </p:nvSpPr>
        <p:spPr>
          <a:xfrm>
            <a:off x="6311900" y="3200400"/>
            <a:ext cx="1968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200" b="1">
                <a:solidFill>
                  <a:srgbClr val="10261D"/>
                </a:solidFill>
                <a:latin typeface="Aptos" panose="020B0004020202020204" pitchFamily="34" charset="0"/>
              </a:rPr>
              <a:t>Brand ERP mapping</a:t>
            </a:r>
            <a:endParaRPr lang="th-TH" sz="12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0B5CDB8-549E-8434-AE76-F4AD758B1D05}"/>
              </a:ext>
            </a:extLst>
          </p:cNvPr>
          <p:cNvCxnSpPr/>
          <p:nvPr/>
        </p:nvCxnSpPr>
        <p:spPr>
          <a:xfrm>
            <a:off x="8470900" y="3213100"/>
            <a:ext cx="355600" cy="0"/>
          </a:xfrm>
          <a:prstGeom prst="line">
            <a:avLst/>
          </a:prstGeom>
          <a:ln w="28575">
            <a:solidFill>
              <a:srgbClr val="0D7A4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C9DA394-27BB-21DE-0F58-92A02F6EA803}"/>
              </a:ext>
            </a:extLst>
          </p:cNvPr>
          <p:cNvSpPr/>
          <p:nvPr/>
        </p:nvSpPr>
        <p:spPr>
          <a:xfrm>
            <a:off x="8890000" y="2743200"/>
            <a:ext cx="2336800" cy="939800"/>
          </a:xfrm>
          <a:prstGeom prst="roundRect">
            <a:avLst/>
          </a:prstGeom>
          <a:solidFill>
            <a:srgbClr val="DDF3E7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22E287-6FFA-B0A6-B1B2-96525746CC5F}"/>
              </a:ext>
            </a:extLst>
          </p:cNvPr>
          <p:cNvSpPr txBox="1"/>
          <p:nvPr/>
        </p:nvSpPr>
        <p:spPr>
          <a:xfrm>
            <a:off x="9067800" y="29210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h-TH" sz="1000" b="1">
                <a:solidFill>
                  <a:srgbClr val="0D7A4C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80F8A2-533F-2BFD-0B05-19BDA6A0E76D}"/>
              </a:ext>
            </a:extLst>
          </p:cNvPr>
          <p:cNvSpPr txBox="1"/>
          <p:nvPr/>
        </p:nvSpPr>
        <p:spPr>
          <a:xfrm>
            <a:off x="9067800" y="3200400"/>
            <a:ext cx="1968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200" b="1">
                <a:solidFill>
                  <a:srgbClr val="10261D"/>
                </a:solidFill>
                <a:latin typeface="Aptos" panose="020B0004020202020204" pitchFamily="34" charset="0"/>
              </a:rPr>
              <a:t>Base customer price</a:t>
            </a:r>
            <a:endParaRPr lang="th-TH" sz="12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BB09F2-5172-116B-3D6D-154D53E82B06}"/>
              </a:ext>
            </a:extLst>
          </p:cNvPr>
          <p:cNvSpPr txBox="1"/>
          <p:nvPr/>
        </p:nvSpPr>
        <p:spPr>
          <a:xfrm>
            <a:off x="622300" y="4191000"/>
            <a:ext cx="457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500" b="1">
                <a:solidFill>
                  <a:srgbClr val="10261D"/>
                </a:solidFill>
                <a:latin typeface="Aptos" panose="020B0004020202020204" pitchFamily="34" charset="0"/>
              </a:rPr>
              <a:t>Siam Retail pricing profile</a:t>
            </a:r>
            <a:endParaRPr lang="th-TH" sz="15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6BD2A5-5AC4-04EC-7238-B400DBC5251E}"/>
              </a:ext>
            </a:extLst>
          </p:cNvPr>
          <p:cNvSpPr/>
          <p:nvPr/>
        </p:nvSpPr>
        <p:spPr>
          <a:xfrm>
            <a:off x="622300" y="4635500"/>
            <a:ext cx="3048000" cy="457200"/>
          </a:xfrm>
          <a:prstGeom prst="rect">
            <a:avLst/>
          </a:prstGeom>
          <a:solidFill>
            <a:srgbClr val="004D33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1793B8-70E1-90AC-170B-76B7E5B15B67}"/>
              </a:ext>
            </a:extLst>
          </p:cNvPr>
          <p:cNvSpPr txBox="1"/>
          <p:nvPr/>
        </p:nvSpPr>
        <p:spPr>
          <a:xfrm>
            <a:off x="749300" y="46609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BRAND</a:t>
            </a:r>
            <a:endParaRPr lang="th-TH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529CE7-B3A5-5109-D923-61111C5E369A}"/>
              </a:ext>
            </a:extLst>
          </p:cNvPr>
          <p:cNvSpPr/>
          <p:nvPr/>
        </p:nvSpPr>
        <p:spPr>
          <a:xfrm>
            <a:off x="3670300" y="4635500"/>
            <a:ext cx="3556000" cy="457200"/>
          </a:xfrm>
          <a:prstGeom prst="rect">
            <a:avLst/>
          </a:prstGeom>
          <a:solidFill>
            <a:srgbClr val="004D33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D56EC8-299E-652A-C0AB-A82E8E87F379}"/>
              </a:ext>
            </a:extLst>
          </p:cNvPr>
          <p:cNvSpPr txBox="1"/>
          <p:nvPr/>
        </p:nvSpPr>
        <p:spPr>
          <a:xfrm>
            <a:off x="3797300" y="4660900"/>
            <a:ext cx="330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ERP PRICE SOURCE</a:t>
            </a:r>
            <a:endParaRPr lang="th-TH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C5BD5C-58CB-533B-B0C5-8C46F32777A1}"/>
              </a:ext>
            </a:extLst>
          </p:cNvPr>
          <p:cNvSpPr/>
          <p:nvPr/>
        </p:nvSpPr>
        <p:spPr>
          <a:xfrm>
            <a:off x="7226300" y="4635500"/>
            <a:ext cx="3429000" cy="457200"/>
          </a:xfrm>
          <a:prstGeom prst="rect">
            <a:avLst/>
          </a:prstGeom>
          <a:solidFill>
            <a:srgbClr val="004D33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EF9E12-8DE9-3BDA-E0A3-A6FF5CB3C702}"/>
              </a:ext>
            </a:extLst>
          </p:cNvPr>
          <p:cNvSpPr txBox="1"/>
          <p:nvPr/>
        </p:nvSpPr>
        <p:spPr>
          <a:xfrm>
            <a:off x="7353300" y="4660900"/>
            <a:ext cx="317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RESULT</a:t>
            </a:r>
            <a:endParaRPr lang="th-TH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79FB17D-1A40-E548-9DA0-2240D68A54E8}"/>
              </a:ext>
            </a:extLst>
          </p:cNvPr>
          <p:cNvSpPr/>
          <p:nvPr/>
        </p:nvSpPr>
        <p:spPr>
          <a:xfrm>
            <a:off x="622300" y="5092700"/>
            <a:ext cx="3048000" cy="457200"/>
          </a:xfrm>
          <a:prstGeom prst="rect">
            <a:avLst/>
          </a:prstGeom>
          <a:solidFill>
            <a:srgbClr val="EFF9F3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994A48-47A1-1C86-C008-FF84E53C3BE2}"/>
              </a:ext>
            </a:extLst>
          </p:cNvPr>
          <p:cNvSpPr txBox="1"/>
          <p:nvPr/>
        </p:nvSpPr>
        <p:spPr>
          <a:xfrm>
            <a:off x="749300" y="51181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>
                <a:solidFill>
                  <a:srgbClr val="10261D"/>
                </a:solidFill>
                <a:latin typeface="Aptos" panose="020B0004020202020204" pitchFamily="34" charset="0"/>
              </a:rPr>
              <a:t>Nubwo</a:t>
            </a:r>
            <a:endParaRPr lang="th-TH" sz="11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FE5D08-80B0-8348-185A-735C79FD0945}"/>
              </a:ext>
            </a:extLst>
          </p:cNvPr>
          <p:cNvSpPr/>
          <p:nvPr/>
        </p:nvSpPr>
        <p:spPr>
          <a:xfrm>
            <a:off x="3670300" y="5092700"/>
            <a:ext cx="3556000" cy="457200"/>
          </a:xfrm>
          <a:prstGeom prst="rect">
            <a:avLst/>
          </a:prstGeom>
          <a:solidFill>
            <a:srgbClr val="EFF9F3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BEA399-C13A-A0F7-A94D-AA0FDFD718B5}"/>
              </a:ext>
            </a:extLst>
          </p:cNvPr>
          <p:cNvSpPr txBox="1"/>
          <p:nvPr/>
        </p:nvSpPr>
        <p:spPr>
          <a:xfrm>
            <a:off x="3797300" y="5118100"/>
            <a:ext cx="330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>
                <a:solidFill>
                  <a:srgbClr val="10261D"/>
                </a:solidFill>
                <a:latin typeface="Aptos" panose="020B0004020202020204" pitchFamily="34" charset="0"/>
              </a:rPr>
              <a:t>SP2</a:t>
            </a:r>
            <a:endParaRPr lang="th-TH" sz="11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997865D-A092-70E8-8910-AC7FB27F3D69}"/>
              </a:ext>
            </a:extLst>
          </p:cNvPr>
          <p:cNvSpPr/>
          <p:nvPr/>
        </p:nvSpPr>
        <p:spPr>
          <a:xfrm>
            <a:off x="7226300" y="5092700"/>
            <a:ext cx="3429000" cy="457200"/>
          </a:xfrm>
          <a:prstGeom prst="rect">
            <a:avLst/>
          </a:prstGeom>
          <a:solidFill>
            <a:srgbClr val="EFF9F3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0AB3E9-D311-0DFF-EFAB-6E769D2EB09E}"/>
              </a:ext>
            </a:extLst>
          </p:cNvPr>
          <p:cNvSpPr txBox="1"/>
          <p:nvPr/>
        </p:nvSpPr>
        <p:spPr>
          <a:xfrm>
            <a:off x="7353300" y="5118100"/>
            <a:ext cx="317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 b="1">
                <a:solidFill>
                  <a:srgbClr val="0D7A4C"/>
                </a:solidFill>
                <a:latin typeface="Aptos" panose="020B0004020202020204" pitchFamily="34" charset="0"/>
              </a:rPr>
              <a:t>Use Nubwo SP2 price</a:t>
            </a:r>
            <a:endParaRPr lang="th-TH" sz="11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851EFF4-C1E1-00F8-0924-50245E586EE1}"/>
              </a:ext>
            </a:extLst>
          </p:cNvPr>
          <p:cNvSpPr/>
          <p:nvPr/>
        </p:nvSpPr>
        <p:spPr>
          <a:xfrm>
            <a:off x="622300" y="5549900"/>
            <a:ext cx="3048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B15B62-4D15-AE24-CEDA-E726DB7B4F8A}"/>
              </a:ext>
            </a:extLst>
          </p:cNvPr>
          <p:cNvSpPr txBox="1"/>
          <p:nvPr/>
        </p:nvSpPr>
        <p:spPr>
          <a:xfrm>
            <a:off x="749300" y="55753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>
                <a:solidFill>
                  <a:srgbClr val="10261D"/>
                </a:solidFill>
                <a:latin typeface="Aptos" panose="020B0004020202020204" pitchFamily="34" charset="0"/>
              </a:rPr>
              <a:t>Ceflar</a:t>
            </a:r>
            <a:endParaRPr lang="th-TH" sz="11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D42ACA8-228E-C05A-FD0A-C6335DA15437}"/>
              </a:ext>
            </a:extLst>
          </p:cNvPr>
          <p:cNvSpPr/>
          <p:nvPr/>
        </p:nvSpPr>
        <p:spPr>
          <a:xfrm>
            <a:off x="3670300" y="5549900"/>
            <a:ext cx="355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E719B3-BE06-98DB-1A79-4AF6A85BC77F}"/>
              </a:ext>
            </a:extLst>
          </p:cNvPr>
          <p:cNvSpPr txBox="1"/>
          <p:nvPr/>
        </p:nvSpPr>
        <p:spPr>
          <a:xfrm>
            <a:off x="3797300" y="5575300"/>
            <a:ext cx="330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>
                <a:solidFill>
                  <a:srgbClr val="10261D"/>
                </a:solidFill>
                <a:latin typeface="Aptos" panose="020B0004020202020204" pitchFamily="34" charset="0"/>
              </a:rPr>
              <a:t>SP5</a:t>
            </a:r>
            <a:endParaRPr lang="th-TH" sz="11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AF0370A-7544-05D9-E2A4-5F2CA81CC1D7}"/>
              </a:ext>
            </a:extLst>
          </p:cNvPr>
          <p:cNvSpPr/>
          <p:nvPr/>
        </p:nvSpPr>
        <p:spPr>
          <a:xfrm>
            <a:off x="7226300" y="5549900"/>
            <a:ext cx="3429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EEC341-6F4E-B57D-7899-1E998F90D2DA}"/>
              </a:ext>
            </a:extLst>
          </p:cNvPr>
          <p:cNvSpPr txBox="1"/>
          <p:nvPr/>
        </p:nvSpPr>
        <p:spPr>
          <a:xfrm>
            <a:off x="7353300" y="5575300"/>
            <a:ext cx="317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 b="1">
                <a:solidFill>
                  <a:srgbClr val="0D7A4C"/>
                </a:solidFill>
                <a:latin typeface="Aptos" panose="020B0004020202020204" pitchFamily="34" charset="0"/>
              </a:rPr>
              <a:t>Use Ceflar SP5 price</a:t>
            </a:r>
            <a:endParaRPr lang="th-TH" sz="11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489C158-3727-5DBD-D2B1-63D227AACBCA}"/>
              </a:ext>
            </a:extLst>
          </p:cNvPr>
          <p:cNvSpPr/>
          <p:nvPr/>
        </p:nvSpPr>
        <p:spPr>
          <a:xfrm>
            <a:off x="622300" y="6007100"/>
            <a:ext cx="3048000" cy="457200"/>
          </a:xfrm>
          <a:prstGeom prst="rect">
            <a:avLst/>
          </a:prstGeom>
          <a:solidFill>
            <a:srgbClr val="EFF9F3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947C0BC-8BA9-8BA6-642D-528B10F968F4}"/>
              </a:ext>
            </a:extLst>
          </p:cNvPr>
          <p:cNvSpPr txBox="1"/>
          <p:nvPr/>
        </p:nvSpPr>
        <p:spPr>
          <a:xfrm>
            <a:off x="749300" y="60325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>
                <a:solidFill>
                  <a:srgbClr val="10261D"/>
                </a:solidFill>
                <a:latin typeface="Aptos" panose="020B0004020202020204" pitchFamily="34" charset="0"/>
              </a:rPr>
              <a:t>ABBY</a:t>
            </a:r>
            <a:endParaRPr lang="th-TH" sz="11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957852C-4A27-10C8-F806-49976059D0BF}"/>
              </a:ext>
            </a:extLst>
          </p:cNvPr>
          <p:cNvSpPr/>
          <p:nvPr/>
        </p:nvSpPr>
        <p:spPr>
          <a:xfrm>
            <a:off x="3670300" y="6007100"/>
            <a:ext cx="3556000" cy="457200"/>
          </a:xfrm>
          <a:prstGeom prst="rect">
            <a:avLst/>
          </a:prstGeom>
          <a:solidFill>
            <a:srgbClr val="EFF9F3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3AC202C-14D5-A1DB-747E-47D42E770708}"/>
              </a:ext>
            </a:extLst>
          </p:cNvPr>
          <p:cNvSpPr txBox="1"/>
          <p:nvPr/>
        </p:nvSpPr>
        <p:spPr>
          <a:xfrm>
            <a:off x="3797300" y="6032500"/>
            <a:ext cx="330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>
                <a:solidFill>
                  <a:srgbClr val="10261D"/>
                </a:solidFill>
                <a:latin typeface="Aptos" panose="020B0004020202020204" pitchFamily="34" charset="0"/>
              </a:rPr>
              <a:t>SP3</a:t>
            </a:r>
            <a:endParaRPr lang="th-TH" sz="11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930DAE7-E1E8-0EDB-BC74-6743F737C2EC}"/>
              </a:ext>
            </a:extLst>
          </p:cNvPr>
          <p:cNvSpPr/>
          <p:nvPr/>
        </p:nvSpPr>
        <p:spPr>
          <a:xfrm>
            <a:off x="7226300" y="6007100"/>
            <a:ext cx="3429000" cy="457200"/>
          </a:xfrm>
          <a:prstGeom prst="rect">
            <a:avLst/>
          </a:prstGeom>
          <a:solidFill>
            <a:srgbClr val="EFF9F3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91DBFC7-E46F-E493-95F0-A68E093BB700}"/>
              </a:ext>
            </a:extLst>
          </p:cNvPr>
          <p:cNvSpPr txBox="1"/>
          <p:nvPr/>
        </p:nvSpPr>
        <p:spPr>
          <a:xfrm>
            <a:off x="7353300" y="6032500"/>
            <a:ext cx="317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 b="1">
                <a:solidFill>
                  <a:srgbClr val="0D7A4C"/>
                </a:solidFill>
                <a:latin typeface="Aptos" panose="020B0004020202020204" pitchFamily="34" charset="0"/>
              </a:rPr>
              <a:t>Use ABBY SP3 price</a:t>
            </a:r>
            <a:endParaRPr lang="th-TH" sz="11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086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1B24F3-1CC2-5016-E9E7-A551D6D431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73E2B6-4E0A-73F7-F9C8-C25D1E2CA9EC}"/>
              </a:ext>
            </a:extLst>
          </p:cNvPr>
          <p:cNvSpPr txBox="1"/>
          <p:nvPr/>
        </p:nvSpPr>
        <p:spPr>
          <a:xfrm>
            <a:off x="609600" y="3048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 b="1">
                <a:solidFill>
                  <a:srgbClr val="0D7A4C"/>
                </a:solidFill>
                <a:latin typeface="Aptos" panose="020B0004020202020204" pitchFamily="34" charset="0"/>
              </a:rPr>
              <a:t>GMS  /  CUSTOMER PORTAL</a:t>
            </a:r>
            <a:endParaRPr lang="th-TH" sz="9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051F3D-4860-9A11-8B12-FA4A9F3C1339}"/>
              </a:ext>
            </a:extLst>
          </p:cNvPr>
          <p:cNvSpPr txBox="1"/>
          <p:nvPr/>
        </p:nvSpPr>
        <p:spPr>
          <a:xfrm>
            <a:off x="609600" y="660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b="1">
                <a:solidFill>
                  <a:srgbClr val="10261D"/>
                </a:solidFill>
                <a:latin typeface="Aptos" panose="020B0004020202020204" pitchFamily="34" charset="0"/>
              </a:rPr>
              <a:t>Step 5 - Multi-brand catalogue pricing</a:t>
            </a:r>
            <a:endParaRPr lang="th-TH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E50045-AE48-C8BF-2097-4DC5992EF3BC}"/>
              </a:ext>
            </a:extLst>
          </p:cNvPr>
          <p:cNvSpPr txBox="1"/>
          <p:nvPr/>
        </p:nvSpPr>
        <p:spPr>
          <a:xfrm>
            <a:off x="609600" y="1244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95E55"/>
                </a:solidFill>
                <a:latin typeface="Aptos" panose="020B0004020202020204" pitchFamily="34" charset="0"/>
              </a:rPr>
              <a:t>One catalogue may contain many brands; each product follows its own mapping.</a:t>
            </a:r>
            <a:endParaRPr lang="th-TH" sz="13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916067-1834-B242-6CCD-B7D4AC5DBB87}"/>
              </a:ext>
            </a:extLst>
          </p:cNvPr>
          <p:cNvSpPr txBox="1"/>
          <p:nvPr/>
        </p:nvSpPr>
        <p:spPr>
          <a:xfrm>
            <a:off x="11112500" y="6286500"/>
            <a:ext cx="457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h-TH" sz="1000" b="1">
                <a:solidFill>
                  <a:srgbClr val="495E55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20FDB2-B831-F36D-050C-74936DB1255F}"/>
              </a:ext>
            </a:extLst>
          </p:cNvPr>
          <p:cNvSpPr txBox="1"/>
          <p:nvPr/>
        </p:nvSpPr>
        <p:spPr>
          <a:xfrm>
            <a:off x="609600" y="6286500"/>
            <a:ext cx="330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>
                <a:solidFill>
                  <a:srgbClr val="495E55"/>
                </a:solidFill>
                <a:latin typeface="Aptos" panose="020B0004020202020204" pitchFamily="34" charset="0"/>
              </a:rPr>
              <a:t>GMS Customer Portal  |  09 Sep 2026</a:t>
            </a:r>
            <a:endParaRPr lang="th-TH" sz="9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8932363-1C0C-F478-9FFD-CEAF5711F582}"/>
              </a:ext>
            </a:extLst>
          </p:cNvPr>
          <p:cNvSpPr/>
          <p:nvPr/>
        </p:nvSpPr>
        <p:spPr>
          <a:xfrm>
            <a:off x="609600" y="1828800"/>
            <a:ext cx="431800" cy="431800"/>
          </a:xfrm>
          <a:prstGeom prst="ellipse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5EC5C0-C828-3270-99D5-3D689BEA7C05}"/>
              </a:ext>
            </a:extLst>
          </p:cNvPr>
          <p:cNvSpPr txBox="1"/>
          <p:nvPr/>
        </p:nvSpPr>
        <p:spPr>
          <a:xfrm>
            <a:off x="609600" y="1828800"/>
            <a:ext cx="4318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th-TH" sz="15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AEC091-5C07-DB1C-31D9-136615A76016}"/>
              </a:ext>
            </a:extLst>
          </p:cNvPr>
          <p:cNvSpPr txBox="1"/>
          <p:nvPr/>
        </p:nvSpPr>
        <p:spPr>
          <a:xfrm>
            <a:off x="1219200" y="1841500"/>
            <a:ext cx="673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2000" b="1">
                <a:solidFill>
                  <a:srgbClr val="10261D"/>
                </a:solidFill>
                <a:latin typeface="Aptos" panose="020B0004020202020204" pitchFamily="34" charset="0"/>
              </a:rPr>
              <a:t>Example: Business Essentials 2026</a:t>
            </a:r>
            <a:endParaRPr lang="th-TH" sz="20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07612FB-6FD2-B883-F93C-B82BAD70458D}"/>
              </a:ext>
            </a:extLst>
          </p:cNvPr>
          <p:cNvSpPr/>
          <p:nvPr/>
        </p:nvSpPr>
        <p:spPr>
          <a:xfrm>
            <a:off x="622300" y="2654300"/>
            <a:ext cx="92456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E9C882B-DFC2-D49A-FA58-4A3E7CA11577}"/>
              </a:ext>
            </a:extLst>
          </p:cNvPr>
          <p:cNvSpPr/>
          <p:nvPr/>
        </p:nvSpPr>
        <p:spPr>
          <a:xfrm>
            <a:off x="825500" y="2895600"/>
            <a:ext cx="1143000" cy="317500"/>
          </a:xfrm>
          <a:prstGeom prst="roundRect">
            <a:avLst/>
          </a:prstGeom>
          <a:solidFill>
            <a:srgbClr val="DDF3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A9EE29-2A75-1986-D41B-FD1F80FD75B2}"/>
              </a:ext>
            </a:extLst>
          </p:cNvPr>
          <p:cNvSpPr txBox="1"/>
          <p:nvPr/>
        </p:nvSpPr>
        <p:spPr>
          <a:xfrm>
            <a:off x="927100" y="2908300"/>
            <a:ext cx="9398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GB" sz="1000" b="1">
                <a:solidFill>
                  <a:srgbClr val="004D33"/>
                </a:solidFill>
                <a:latin typeface="Aptos" panose="020B0004020202020204" pitchFamily="34" charset="0"/>
              </a:rPr>
              <a:t>NUBWO</a:t>
            </a:r>
            <a:endParaRPr lang="th-TH" sz="1000" b="1">
              <a:solidFill>
                <a:srgbClr val="004D33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21B026-1647-DC5C-0B13-147AF9CBE6C6}"/>
              </a:ext>
            </a:extLst>
          </p:cNvPr>
          <p:cNvSpPr txBox="1"/>
          <p:nvPr/>
        </p:nvSpPr>
        <p:spPr>
          <a:xfrm>
            <a:off x="2260600" y="28702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300" b="1">
                <a:solidFill>
                  <a:srgbClr val="10261D"/>
                </a:solidFill>
                <a:latin typeface="Aptos" panose="020B0004020202020204" pitchFamily="34" charset="0"/>
              </a:rPr>
              <a:t>Gaming headset</a:t>
            </a:r>
            <a:endParaRPr lang="th-TH" sz="13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631D87-8768-D8D6-A0A4-BE4121D7CDF0}"/>
              </a:ext>
            </a:extLst>
          </p:cNvPr>
          <p:cNvSpPr txBox="1"/>
          <p:nvPr/>
        </p:nvSpPr>
        <p:spPr>
          <a:xfrm>
            <a:off x="5334000" y="2870200"/>
            <a:ext cx="1333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200" b="1">
                <a:solidFill>
                  <a:srgbClr val="495E55"/>
                </a:solidFill>
                <a:latin typeface="Aptos" panose="020B0004020202020204" pitchFamily="34" charset="0"/>
              </a:rPr>
              <a:t>ERP SP2</a:t>
            </a:r>
            <a:endParaRPr lang="th-TH" sz="1200" b="1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DA15E8-D350-7570-3179-E6E24C1BA191}"/>
              </a:ext>
            </a:extLst>
          </p:cNvPr>
          <p:cNvCxnSpPr/>
          <p:nvPr/>
        </p:nvCxnSpPr>
        <p:spPr>
          <a:xfrm>
            <a:off x="6858000" y="3060700"/>
            <a:ext cx="762000" cy="0"/>
          </a:xfrm>
          <a:prstGeom prst="line">
            <a:avLst/>
          </a:prstGeom>
          <a:ln w="28575">
            <a:solidFill>
              <a:srgbClr val="0D7A4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334823D-80F7-8957-41DA-18AE788008D3}"/>
              </a:ext>
            </a:extLst>
          </p:cNvPr>
          <p:cNvSpPr txBox="1"/>
          <p:nvPr/>
        </p:nvSpPr>
        <p:spPr>
          <a:xfrm>
            <a:off x="7937500" y="2844800"/>
            <a:ext cx="152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GB" sz="1700" b="1">
                <a:solidFill>
                  <a:srgbClr val="0D7A4C"/>
                </a:solidFill>
                <a:latin typeface="Aptos" panose="020B0004020202020204" pitchFamily="34" charset="0"/>
              </a:rPr>
              <a:t>THB 2,150</a:t>
            </a:r>
            <a:endParaRPr lang="th-TH" sz="17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6C90C1F-801B-E4F2-B2AF-8EC0F3BCD79D}"/>
              </a:ext>
            </a:extLst>
          </p:cNvPr>
          <p:cNvSpPr/>
          <p:nvPr/>
        </p:nvSpPr>
        <p:spPr>
          <a:xfrm>
            <a:off x="622300" y="3695700"/>
            <a:ext cx="92456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107AEBF-2D8B-1110-7D98-0DAA8130AF72}"/>
              </a:ext>
            </a:extLst>
          </p:cNvPr>
          <p:cNvSpPr/>
          <p:nvPr/>
        </p:nvSpPr>
        <p:spPr>
          <a:xfrm>
            <a:off x="825500" y="3937000"/>
            <a:ext cx="1143000" cy="317500"/>
          </a:xfrm>
          <a:prstGeom prst="roundRect">
            <a:avLst/>
          </a:prstGeom>
          <a:solidFill>
            <a:srgbClr val="EFF9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2B75E6-639B-9BFC-292B-270887C0245E}"/>
              </a:ext>
            </a:extLst>
          </p:cNvPr>
          <p:cNvSpPr txBox="1"/>
          <p:nvPr/>
        </p:nvSpPr>
        <p:spPr>
          <a:xfrm>
            <a:off x="927100" y="3949700"/>
            <a:ext cx="9398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GB" sz="1000" b="1">
                <a:solidFill>
                  <a:srgbClr val="004D33"/>
                </a:solidFill>
                <a:latin typeface="Aptos" panose="020B0004020202020204" pitchFamily="34" charset="0"/>
              </a:rPr>
              <a:t>CEFLAR</a:t>
            </a:r>
            <a:endParaRPr lang="th-TH" sz="1000" b="1">
              <a:solidFill>
                <a:srgbClr val="004D33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1B5AFA-ABBA-2C35-3DA1-90215471B948}"/>
              </a:ext>
            </a:extLst>
          </p:cNvPr>
          <p:cNvSpPr txBox="1"/>
          <p:nvPr/>
        </p:nvSpPr>
        <p:spPr>
          <a:xfrm>
            <a:off x="2260600" y="39116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300" b="1">
                <a:solidFill>
                  <a:srgbClr val="10261D"/>
                </a:solidFill>
                <a:latin typeface="Aptos" panose="020B0004020202020204" pitchFamily="34" charset="0"/>
              </a:rPr>
              <a:t>Audio mixer</a:t>
            </a:r>
            <a:endParaRPr lang="th-TH" sz="13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1EDF9F-B53A-D58F-92CA-4B1912DAE8AE}"/>
              </a:ext>
            </a:extLst>
          </p:cNvPr>
          <p:cNvSpPr txBox="1"/>
          <p:nvPr/>
        </p:nvSpPr>
        <p:spPr>
          <a:xfrm>
            <a:off x="5334000" y="3911600"/>
            <a:ext cx="1333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200" b="1">
                <a:solidFill>
                  <a:srgbClr val="495E55"/>
                </a:solidFill>
                <a:latin typeface="Aptos" panose="020B0004020202020204" pitchFamily="34" charset="0"/>
              </a:rPr>
              <a:t>ERP SP5</a:t>
            </a:r>
            <a:endParaRPr lang="th-TH" sz="1200" b="1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6CC9152-A554-F58A-FCE3-278054458624}"/>
              </a:ext>
            </a:extLst>
          </p:cNvPr>
          <p:cNvCxnSpPr/>
          <p:nvPr/>
        </p:nvCxnSpPr>
        <p:spPr>
          <a:xfrm>
            <a:off x="6858000" y="4102100"/>
            <a:ext cx="762000" cy="0"/>
          </a:xfrm>
          <a:prstGeom prst="line">
            <a:avLst/>
          </a:prstGeom>
          <a:ln w="28575">
            <a:solidFill>
              <a:srgbClr val="0D7A4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5936FC1-6CF0-00B6-87C1-20C9125A58CF}"/>
              </a:ext>
            </a:extLst>
          </p:cNvPr>
          <p:cNvSpPr txBox="1"/>
          <p:nvPr/>
        </p:nvSpPr>
        <p:spPr>
          <a:xfrm>
            <a:off x="7937500" y="3886200"/>
            <a:ext cx="152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GB" sz="1700" b="1">
                <a:solidFill>
                  <a:srgbClr val="0D7A4C"/>
                </a:solidFill>
                <a:latin typeface="Aptos" panose="020B0004020202020204" pitchFamily="34" charset="0"/>
              </a:rPr>
              <a:t>THB 6,500</a:t>
            </a:r>
            <a:endParaRPr lang="th-TH" sz="17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A68CF22-AE20-8D60-EC56-D161FFD1AFD2}"/>
              </a:ext>
            </a:extLst>
          </p:cNvPr>
          <p:cNvSpPr/>
          <p:nvPr/>
        </p:nvSpPr>
        <p:spPr>
          <a:xfrm>
            <a:off x="622300" y="4737100"/>
            <a:ext cx="9245600" cy="81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1B8A09B-9DFD-B420-E9BF-649B3F13D3E0}"/>
              </a:ext>
            </a:extLst>
          </p:cNvPr>
          <p:cNvSpPr/>
          <p:nvPr/>
        </p:nvSpPr>
        <p:spPr>
          <a:xfrm>
            <a:off x="825500" y="4978400"/>
            <a:ext cx="1143000" cy="317500"/>
          </a:xfrm>
          <a:prstGeom prst="roundRect">
            <a:avLst/>
          </a:prstGeom>
          <a:solidFill>
            <a:srgbClr val="DDF3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8E76AE-7D1F-5E31-5957-3540AB5CFD5A}"/>
              </a:ext>
            </a:extLst>
          </p:cNvPr>
          <p:cNvSpPr txBox="1"/>
          <p:nvPr/>
        </p:nvSpPr>
        <p:spPr>
          <a:xfrm>
            <a:off x="927100" y="4991100"/>
            <a:ext cx="9398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GB" sz="1000" b="1">
                <a:solidFill>
                  <a:srgbClr val="004D33"/>
                </a:solidFill>
                <a:latin typeface="Aptos" panose="020B0004020202020204" pitchFamily="34" charset="0"/>
              </a:rPr>
              <a:t>ABBY</a:t>
            </a:r>
            <a:endParaRPr lang="th-TH" sz="1000" b="1">
              <a:solidFill>
                <a:srgbClr val="004D33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8566ED-5F15-24B0-FDE6-712C3C35EBB2}"/>
              </a:ext>
            </a:extLst>
          </p:cNvPr>
          <p:cNvSpPr txBox="1"/>
          <p:nvPr/>
        </p:nvSpPr>
        <p:spPr>
          <a:xfrm>
            <a:off x="2260600" y="49530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300" b="1">
                <a:solidFill>
                  <a:srgbClr val="10261D"/>
                </a:solidFill>
                <a:latin typeface="Aptos" panose="020B0004020202020204" pitchFamily="34" charset="0"/>
              </a:rPr>
              <a:t>Office accessory</a:t>
            </a:r>
            <a:endParaRPr lang="th-TH" sz="13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11C494-1BE1-3301-5496-717720CF3C72}"/>
              </a:ext>
            </a:extLst>
          </p:cNvPr>
          <p:cNvSpPr txBox="1"/>
          <p:nvPr/>
        </p:nvSpPr>
        <p:spPr>
          <a:xfrm>
            <a:off x="5334000" y="4953000"/>
            <a:ext cx="1333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200" b="1">
                <a:solidFill>
                  <a:srgbClr val="495E55"/>
                </a:solidFill>
                <a:latin typeface="Aptos" panose="020B0004020202020204" pitchFamily="34" charset="0"/>
              </a:rPr>
              <a:t>ERP SP3</a:t>
            </a:r>
            <a:endParaRPr lang="th-TH" sz="1200" b="1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6C2CCEA-C00A-57BF-3CCB-1251A68DDA5D}"/>
              </a:ext>
            </a:extLst>
          </p:cNvPr>
          <p:cNvCxnSpPr/>
          <p:nvPr/>
        </p:nvCxnSpPr>
        <p:spPr>
          <a:xfrm>
            <a:off x="6858000" y="5143500"/>
            <a:ext cx="762000" cy="0"/>
          </a:xfrm>
          <a:prstGeom prst="line">
            <a:avLst/>
          </a:prstGeom>
          <a:ln w="28575">
            <a:solidFill>
              <a:srgbClr val="0D7A4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EC4A34B-6B23-6078-7209-1C45C1A57E02}"/>
              </a:ext>
            </a:extLst>
          </p:cNvPr>
          <p:cNvSpPr txBox="1"/>
          <p:nvPr/>
        </p:nvSpPr>
        <p:spPr>
          <a:xfrm>
            <a:off x="7937500" y="4927600"/>
            <a:ext cx="1524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GB" sz="1700" b="1">
                <a:solidFill>
                  <a:srgbClr val="0D7A4C"/>
                </a:solidFill>
                <a:latin typeface="Aptos" panose="020B0004020202020204" pitchFamily="34" charset="0"/>
              </a:rPr>
              <a:t>THB 1,050</a:t>
            </a:r>
            <a:endParaRPr lang="th-TH" sz="17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0CD87FC-3C58-F224-4A5F-60AF07B90C1E}"/>
              </a:ext>
            </a:extLst>
          </p:cNvPr>
          <p:cNvSpPr/>
          <p:nvPr/>
        </p:nvSpPr>
        <p:spPr>
          <a:xfrm>
            <a:off x="10147300" y="2654300"/>
            <a:ext cx="1257300" cy="2895600"/>
          </a:xfrm>
          <a:prstGeom prst="roundRect">
            <a:avLst/>
          </a:prstGeom>
          <a:solidFill>
            <a:srgbClr val="004D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488E4A-CA94-EACA-5040-04F4FB19216D}"/>
              </a:ext>
            </a:extLst>
          </p:cNvPr>
          <p:cNvSpPr txBox="1"/>
          <p:nvPr/>
        </p:nvSpPr>
        <p:spPr>
          <a:xfrm>
            <a:off x="10325100" y="2933700"/>
            <a:ext cx="914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GB" sz="1200" b="1">
                <a:solidFill>
                  <a:srgbClr val="DDF3E7"/>
                </a:solidFill>
                <a:latin typeface="Aptos" panose="020B0004020202020204" pitchFamily="34" charset="0"/>
              </a:rPr>
              <a:t>ONE
CATALOGUE</a:t>
            </a:r>
            <a:endParaRPr lang="th-TH" sz="1200" b="1">
              <a:solidFill>
                <a:srgbClr val="DDF3E7"/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A20438-AAE4-2115-32F7-B5BF4BD32DFB}"/>
              </a:ext>
            </a:extLst>
          </p:cNvPr>
          <p:cNvSpPr txBox="1"/>
          <p:nvPr/>
        </p:nvSpPr>
        <p:spPr>
          <a:xfrm>
            <a:off x="10325100" y="3822700"/>
            <a:ext cx="914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GB" sz="2200" b="1">
                <a:solidFill>
                  <a:srgbClr val="FFFFFF"/>
                </a:solidFill>
                <a:latin typeface="Aptos" panose="020B0004020202020204" pitchFamily="34" charset="0"/>
              </a:rPr>
              <a:t>3
brands</a:t>
            </a:r>
            <a:endParaRPr lang="th-TH" sz="2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99A528-BB66-6DC6-253C-53C5295205B1}"/>
              </a:ext>
            </a:extLst>
          </p:cNvPr>
          <p:cNvSpPr txBox="1"/>
          <p:nvPr/>
        </p:nvSpPr>
        <p:spPr>
          <a:xfrm>
            <a:off x="10325100" y="4813300"/>
            <a:ext cx="914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GB" sz="1200" b="1">
                <a:solidFill>
                  <a:srgbClr val="DDF3E7"/>
                </a:solidFill>
                <a:latin typeface="Aptos" panose="020B0004020202020204" pitchFamily="34" charset="0"/>
              </a:rPr>
              <a:t>3 correct
prices</a:t>
            </a:r>
            <a:endParaRPr lang="th-TH" sz="1200" b="1">
              <a:solidFill>
                <a:srgbClr val="DDF3E7"/>
              </a:solidFill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5B7FC1-8C11-58AF-7D11-E29FFB07B260}"/>
              </a:ext>
            </a:extLst>
          </p:cNvPr>
          <p:cNvSpPr txBox="1"/>
          <p:nvPr/>
        </p:nvSpPr>
        <p:spPr>
          <a:xfrm>
            <a:off x="622300" y="5918200"/>
            <a:ext cx="9245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CB3E3E"/>
                </a:solidFill>
                <a:latin typeface="Aptos" panose="020B0004020202020204" pitchFamily="34" charset="0"/>
              </a:rPr>
              <a:t>Never force one ERP price level across every brand.</a:t>
            </a:r>
            <a:endParaRPr lang="th-TH" sz="1200" b="1">
              <a:solidFill>
                <a:srgbClr val="CB3E3E"/>
              </a:solidFill>
              <a:latin typeface="Aptos" panose="020B00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F6F865-A73F-700F-4151-B7850EF959FC}"/>
              </a:ext>
            </a:extLst>
          </p:cNvPr>
          <p:cNvSpPr/>
          <p:nvPr/>
        </p:nvSpPr>
        <p:spPr>
          <a:xfrm>
            <a:off x="0" y="0"/>
            <a:ext cx="12192000" cy="1625600"/>
          </a:xfrm>
          <a:prstGeom prst="rect">
            <a:avLst/>
          </a:prstGeom>
          <a:solidFill>
            <a:srgbClr val="004D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B54EA2-6F1A-6B4D-9002-224A696AE789}"/>
              </a:ext>
            </a:extLst>
          </p:cNvPr>
          <p:cNvSpPr txBox="1"/>
          <p:nvPr/>
        </p:nvSpPr>
        <p:spPr>
          <a:xfrm>
            <a:off x="609600" y="279400"/>
            <a:ext cx="457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000" b="1">
                <a:solidFill>
                  <a:srgbClr val="DDF3E7"/>
                </a:solidFill>
                <a:latin typeface="Aptos" panose="020B0004020202020204" pitchFamily="34" charset="0"/>
              </a:rPr>
              <a:t>STEP 5  /  PRICE RESOLUTION</a:t>
            </a:r>
            <a:endParaRPr lang="th-TH" sz="1000" b="1">
              <a:solidFill>
                <a:srgbClr val="DDF3E7"/>
              </a:solidFill>
              <a:latin typeface="Aptos" panose="020B00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53B6B4-1F75-4EC8-0A4F-B0998DF27284}"/>
              </a:ext>
            </a:extLst>
          </p:cNvPr>
          <p:cNvSpPr txBox="1"/>
          <p:nvPr/>
        </p:nvSpPr>
        <p:spPr>
          <a:xfrm>
            <a:off x="609600" y="6477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2700" b="1">
                <a:solidFill>
                  <a:srgbClr val="FFFFFF"/>
                </a:solidFill>
                <a:latin typeface="Aptos" panose="020B0004020202020204" pitchFamily="34" charset="0"/>
              </a:rPr>
              <a:t>Multi-brand catalogue pricing</a:t>
            </a:r>
            <a:endParaRPr lang="th-TH" sz="27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5CD5AF-1BF0-BD90-9A9A-F72E10D5D21E}"/>
              </a:ext>
            </a:extLst>
          </p:cNvPr>
          <p:cNvSpPr txBox="1"/>
          <p:nvPr/>
        </p:nvSpPr>
        <p:spPr>
          <a:xfrm>
            <a:off x="609600" y="12192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DDF3E7"/>
                </a:solidFill>
                <a:latin typeface="Aptos" panose="020B0004020202020204" pitchFamily="34" charset="0"/>
              </a:rPr>
              <a:t>One catalogue may contain many brands; each product follows its own mapping.</a:t>
            </a:r>
            <a:endParaRPr lang="th-TH" sz="1200">
              <a:solidFill>
                <a:srgbClr val="DDF3E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85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74C21B-7F3D-62B5-B725-90E3809B51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7D457A-EC6A-3094-96BD-21562FB26E99}"/>
              </a:ext>
            </a:extLst>
          </p:cNvPr>
          <p:cNvSpPr txBox="1"/>
          <p:nvPr/>
        </p:nvSpPr>
        <p:spPr>
          <a:xfrm>
            <a:off x="609600" y="3048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 b="1">
                <a:solidFill>
                  <a:srgbClr val="0D7A4C"/>
                </a:solidFill>
                <a:latin typeface="Aptos" panose="020B0004020202020204" pitchFamily="34" charset="0"/>
              </a:rPr>
              <a:t>GMS  /  CUSTOMER PORTAL</a:t>
            </a:r>
            <a:endParaRPr lang="th-TH" sz="9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C2ACC4-A20B-5E5D-05A7-C70CD8A99547}"/>
              </a:ext>
            </a:extLst>
          </p:cNvPr>
          <p:cNvSpPr txBox="1"/>
          <p:nvPr/>
        </p:nvSpPr>
        <p:spPr>
          <a:xfrm>
            <a:off x="609600" y="660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0261D"/>
                </a:solidFill>
                <a:latin typeface="Aptos" panose="020B0004020202020204" pitchFamily="34" charset="0"/>
              </a:rPr>
              <a:t>Step 6 - Apply an eligible promotion</a:t>
            </a:r>
            <a:endParaRPr lang="th-TH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5E5CA3-D81C-8672-A3EE-24B98C7D0394}"/>
              </a:ext>
            </a:extLst>
          </p:cNvPr>
          <p:cNvSpPr txBox="1"/>
          <p:nvPr/>
        </p:nvSpPr>
        <p:spPr>
          <a:xfrm>
            <a:off x="609600" y="1244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95E55"/>
                </a:solidFill>
                <a:latin typeface="Aptos" panose="020B0004020202020204" pitchFamily="34" charset="0"/>
              </a:rPr>
              <a:t>Promotions adjust the mapped customer price only when every eligibility rule passes.</a:t>
            </a:r>
            <a:endParaRPr lang="th-TH" sz="13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211452-CE49-CD90-96BA-DF0D9C837A6E}"/>
              </a:ext>
            </a:extLst>
          </p:cNvPr>
          <p:cNvSpPr txBox="1"/>
          <p:nvPr/>
        </p:nvSpPr>
        <p:spPr>
          <a:xfrm>
            <a:off x="11112500" y="6286500"/>
            <a:ext cx="457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h-TH" sz="1000" b="1">
                <a:solidFill>
                  <a:srgbClr val="495E55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542360-5ABF-E12A-3C86-9F140D2EF0BA}"/>
              </a:ext>
            </a:extLst>
          </p:cNvPr>
          <p:cNvSpPr txBox="1"/>
          <p:nvPr/>
        </p:nvSpPr>
        <p:spPr>
          <a:xfrm>
            <a:off x="609600" y="6286500"/>
            <a:ext cx="330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>
                <a:solidFill>
                  <a:srgbClr val="495E55"/>
                </a:solidFill>
                <a:latin typeface="Aptos" panose="020B0004020202020204" pitchFamily="34" charset="0"/>
              </a:rPr>
              <a:t>GMS Customer Portal  |  09 Sep 2026</a:t>
            </a:r>
            <a:endParaRPr lang="th-TH" sz="9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0173ED4-38B1-4E42-59E6-B233CBC92A36}"/>
              </a:ext>
            </a:extLst>
          </p:cNvPr>
          <p:cNvSpPr/>
          <p:nvPr/>
        </p:nvSpPr>
        <p:spPr>
          <a:xfrm>
            <a:off x="609600" y="1854200"/>
            <a:ext cx="431800" cy="431800"/>
          </a:xfrm>
          <a:prstGeom prst="ellipse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937A91-A6FD-A2AA-BB32-3C97736AFE8C}"/>
              </a:ext>
            </a:extLst>
          </p:cNvPr>
          <p:cNvSpPr txBox="1"/>
          <p:nvPr/>
        </p:nvSpPr>
        <p:spPr>
          <a:xfrm>
            <a:off x="609600" y="1854200"/>
            <a:ext cx="4318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th-TH" sz="1500" b="1">
                <a:solidFill>
                  <a:srgbClr val="FFFFFF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6B0DA2-D67F-604C-E0F3-52581AFE6CCC}"/>
              </a:ext>
            </a:extLst>
          </p:cNvPr>
          <p:cNvSpPr txBox="1"/>
          <p:nvPr/>
        </p:nvSpPr>
        <p:spPr>
          <a:xfrm>
            <a:off x="1219200" y="18542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2000" b="1">
                <a:solidFill>
                  <a:srgbClr val="10261D"/>
                </a:solidFill>
                <a:latin typeface="Aptos" panose="020B0004020202020204" pitchFamily="34" charset="0"/>
              </a:rPr>
              <a:t>Price calculation</a:t>
            </a:r>
            <a:endParaRPr lang="th-TH" sz="20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E25BF0-464B-FFD0-FA98-16B799993F05}"/>
              </a:ext>
            </a:extLst>
          </p:cNvPr>
          <p:cNvSpPr/>
          <p:nvPr/>
        </p:nvSpPr>
        <p:spPr>
          <a:xfrm>
            <a:off x="622300" y="2705100"/>
            <a:ext cx="29845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2F8232-DEE5-6CC2-F8C6-913424F210A4}"/>
              </a:ext>
            </a:extLst>
          </p:cNvPr>
          <p:cNvSpPr txBox="1"/>
          <p:nvPr/>
        </p:nvSpPr>
        <p:spPr>
          <a:xfrm>
            <a:off x="876300" y="2933700"/>
            <a:ext cx="2413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200" b="1">
                <a:solidFill>
                  <a:srgbClr val="495E55"/>
                </a:solidFill>
                <a:latin typeface="Aptos" panose="020B0004020202020204" pitchFamily="34" charset="0"/>
              </a:rPr>
              <a:t>Mapped base price</a:t>
            </a:r>
            <a:endParaRPr lang="th-TH" sz="1200" b="1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A5059D-4D7A-A918-E3BB-29A3B3ED8E54}"/>
              </a:ext>
            </a:extLst>
          </p:cNvPr>
          <p:cNvSpPr txBox="1"/>
          <p:nvPr/>
        </p:nvSpPr>
        <p:spPr>
          <a:xfrm>
            <a:off x="876300" y="3352800"/>
            <a:ext cx="2413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2600" b="1">
                <a:solidFill>
                  <a:srgbClr val="004D33"/>
                </a:solidFill>
                <a:latin typeface="Aptos" panose="020B0004020202020204" pitchFamily="34" charset="0"/>
              </a:rPr>
              <a:t>THB 2,150</a:t>
            </a:r>
            <a:endParaRPr lang="th-TH" sz="2600" b="1">
              <a:solidFill>
                <a:srgbClr val="004D33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02207A-BFB6-A318-C9A0-32C434F48884}"/>
              </a:ext>
            </a:extLst>
          </p:cNvPr>
          <p:cNvSpPr txBox="1"/>
          <p:nvPr/>
        </p:nvSpPr>
        <p:spPr>
          <a:xfrm>
            <a:off x="3822700" y="3136900"/>
            <a:ext cx="533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th-TH" sz="2700" b="1">
                <a:solidFill>
                  <a:srgbClr val="0D7A4C"/>
                </a:solidFill>
                <a:latin typeface="Aptos" panose="020B0004020202020204" pitchFamily="34" charset="0"/>
              </a:rPr>
              <a:t>-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6C8D9B5-539C-9855-0CBE-6BF0147F5AB1}"/>
              </a:ext>
            </a:extLst>
          </p:cNvPr>
          <p:cNvSpPr/>
          <p:nvPr/>
        </p:nvSpPr>
        <p:spPr>
          <a:xfrm>
            <a:off x="4495800" y="2705100"/>
            <a:ext cx="2984500" cy="1422400"/>
          </a:xfrm>
          <a:prstGeom prst="roundRect">
            <a:avLst/>
          </a:prstGeom>
          <a:solidFill>
            <a:srgbClr val="EFF9F3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47E6DA-F837-F3EB-8DD3-529EE80384E7}"/>
              </a:ext>
            </a:extLst>
          </p:cNvPr>
          <p:cNvSpPr txBox="1"/>
          <p:nvPr/>
        </p:nvSpPr>
        <p:spPr>
          <a:xfrm>
            <a:off x="4749800" y="2933700"/>
            <a:ext cx="2413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200" b="1">
                <a:solidFill>
                  <a:srgbClr val="495E55"/>
                </a:solidFill>
                <a:latin typeface="Aptos" panose="020B0004020202020204" pitchFamily="34" charset="0"/>
              </a:rPr>
              <a:t>Eligible promotion</a:t>
            </a:r>
            <a:endParaRPr lang="th-TH" sz="1200" b="1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ACDBE4-F343-30E7-4E65-841D039D1F82}"/>
              </a:ext>
            </a:extLst>
          </p:cNvPr>
          <p:cNvSpPr txBox="1"/>
          <p:nvPr/>
        </p:nvSpPr>
        <p:spPr>
          <a:xfrm>
            <a:off x="4749800" y="3352800"/>
            <a:ext cx="2413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2600" b="1">
                <a:solidFill>
                  <a:srgbClr val="0D7A4C"/>
                </a:solidFill>
                <a:latin typeface="Aptos" panose="020B0004020202020204" pitchFamily="34" charset="0"/>
              </a:rPr>
              <a:t>10% OFF</a:t>
            </a:r>
            <a:endParaRPr lang="th-TH" sz="26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6AF40C-1EBF-C857-9448-E6CD2D9D70F7}"/>
              </a:ext>
            </a:extLst>
          </p:cNvPr>
          <p:cNvSpPr txBox="1"/>
          <p:nvPr/>
        </p:nvSpPr>
        <p:spPr>
          <a:xfrm>
            <a:off x="7696200" y="3136900"/>
            <a:ext cx="533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th-TH" sz="2700" b="1">
                <a:solidFill>
                  <a:srgbClr val="0D7A4C"/>
                </a:solidFill>
                <a:latin typeface="Aptos" panose="020B0004020202020204" pitchFamily="34" charset="0"/>
              </a:rPr>
              <a:t>=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0E4FB12-14B1-53A1-B53C-14AA55473D9D}"/>
              </a:ext>
            </a:extLst>
          </p:cNvPr>
          <p:cNvSpPr/>
          <p:nvPr/>
        </p:nvSpPr>
        <p:spPr>
          <a:xfrm>
            <a:off x="8369300" y="2705100"/>
            <a:ext cx="3035300" cy="1422400"/>
          </a:xfrm>
          <a:prstGeom prst="roundRect">
            <a:avLst/>
          </a:prstGeom>
          <a:solidFill>
            <a:srgbClr val="004D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46175D-2BC3-EDC4-DEB5-2B8D80501C92}"/>
              </a:ext>
            </a:extLst>
          </p:cNvPr>
          <p:cNvSpPr txBox="1"/>
          <p:nvPr/>
        </p:nvSpPr>
        <p:spPr>
          <a:xfrm>
            <a:off x="8623300" y="2933700"/>
            <a:ext cx="25273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200" b="1">
                <a:solidFill>
                  <a:srgbClr val="DDF3E7"/>
                </a:solidFill>
                <a:latin typeface="Aptos" panose="020B0004020202020204" pitchFamily="34" charset="0"/>
              </a:rPr>
              <a:t>Final customer price</a:t>
            </a:r>
            <a:endParaRPr lang="th-TH" sz="1200" b="1">
              <a:solidFill>
                <a:srgbClr val="DDF3E7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8AF4E9-0050-5C67-1F13-E966642E8893}"/>
              </a:ext>
            </a:extLst>
          </p:cNvPr>
          <p:cNvSpPr txBox="1"/>
          <p:nvPr/>
        </p:nvSpPr>
        <p:spPr>
          <a:xfrm>
            <a:off x="8623300" y="3352800"/>
            <a:ext cx="25273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2600" b="1">
                <a:solidFill>
                  <a:srgbClr val="FFFFFF"/>
                </a:solidFill>
                <a:latin typeface="Aptos" panose="020B0004020202020204" pitchFamily="34" charset="0"/>
              </a:rPr>
              <a:t>THB 1,935</a:t>
            </a:r>
            <a:endParaRPr lang="th-TH" sz="2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C6A99C-70A4-0532-5488-6B7E49F27725}"/>
              </a:ext>
            </a:extLst>
          </p:cNvPr>
          <p:cNvSpPr txBox="1"/>
          <p:nvPr/>
        </p:nvSpPr>
        <p:spPr>
          <a:xfrm>
            <a:off x="622300" y="45720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500" b="1">
                <a:solidFill>
                  <a:srgbClr val="10261D"/>
                </a:solidFill>
                <a:latin typeface="Aptos" panose="020B0004020202020204" pitchFamily="34" charset="0"/>
              </a:rPr>
              <a:t>Promotion eligibility checks</a:t>
            </a:r>
            <a:endParaRPr lang="th-TH" sz="15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A9E14DF-51B0-0F46-2F7A-31275C924FAB}"/>
              </a:ext>
            </a:extLst>
          </p:cNvPr>
          <p:cNvSpPr/>
          <p:nvPr/>
        </p:nvSpPr>
        <p:spPr>
          <a:xfrm>
            <a:off x="723900" y="5029200"/>
            <a:ext cx="127000" cy="127000"/>
          </a:xfrm>
          <a:prstGeom prst="ellipse">
            <a:avLst/>
          </a:prstGeom>
          <a:solidFill>
            <a:srgbClr val="1DA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716E42-B5A5-05A4-B017-F0A3FF0F8438}"/>
              </a:ext>
            </a:extLst>
          </p:cNvPr>
          <p:cNvSpPr txBox="1"/>
          <p:nvPr/>
        </p:nvSpPr>
        <p:spPr>
          <a:xfrm>
            <a:off x="1003300" y="4940300"/>
            <a:ext cx="9626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>
                <a:solidFill>
                  <a:srgbClr val="10261D"/>
                </a:solidFill>
                <a:latin typeface="Aptos" panose="020B0004020202020204" pitchFamily="34" charset="0"/>
              </a:rPr>
              <a:t>Attached to the accessible catalogue</a:t>
            </a:r>
            <a:endParaRPr lang="th-TH" sz="13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745245C-C9A4-8C59-9525-2F5A2629C9AE}"/>
              </a:ext>
            </a:extLst>
          </p:cNvPr>
          <p:cNvSpPr/>
          <p:nvPr/>
        </p:nvSpPr>
        <p:spPr>
          <a:xfrm>
            <a:off x="723900" y="5346700"/>
            <a:ext cx="127000" cy="127000"/>
          </a:xfrm>
          <a:prstGeom prst="ellipse">
            <a:avLst/>
          </a:prstGeom>
          <a:solidFill>
            <a:srgbClr val="1DA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0317A5-CDA1-71FC-C62C-E310B342F3A4}"/>
              </a:ext>
            </a:extLst>
          </p:cNvPr>
          <p:cNvSpPr txBox="1"/>
          <p:nvPr/>
        </p:nvSpPr>
        <p:spPr>
          <a:xfrm>
            <a:off x="1003300" y="5257800"/>
            <a:ext cx="9626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300">
                <a:solidFill>
                  <a:srgbClr val="10261D"/>
                </a:solidFill>
                <a:latin typeface="Aptos" panose="020B0004020202020204" pitchFamily="34" charset="0"/>
              </a:rPr>
              <a:t>Matches the customer audience</a:t>
            </a:r>
            <a:endParaRPr lang="th-TH" sz="13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6337F19-1916-E3C2-A488-33F84B790459}"/>
              </a:ext>
            </a:extLst>
          </p:cNvPr>
          <p:cNvSpPr/>
          <p:nvPr/>
        </p:nvSpPr>
        <p:spPr>
          <a:xfrm>
            <a:off x="723900" y="5664200"/>
            <a:ext cx="127000" cy="127000"/>
          </a:xfrm>
          <a:prstGeom prst="ellipse">
            <a:avLst/>
          </a:prstGeom>
          <a:solidFill>
            <a:srgbClr val="1DA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B3E9E5-A314-D0EB-26F6-FAAE048A62EC}"/>
              </a:ext>
            </a:extLst>
          </p:cNvPr>
          <p:cNvSpPr txBox="1"/>
          <p:nvPr/>
        </p:nvSpPr>
        <p:spPr>
          <a:xfrm>
            <a:off x="1003300" y="5575300"/>
            <a:ext cx="9626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>
                <a:solidFill>
                  <a:srgbClr val="10261D"/>
                </a:solidFill>
                <a:latin typeface="Aptos" panose="020B0004020202020204" pitchFamily="34" charset="0"/>
              </a:rPr>
              <a:t>Currently active and within date range</a:t>
            </a:r>
            <a:endParaRPr lang="th-TH" sz="13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CD10B24-F173-9857-D033-B2D0B9DE2FE0}"/>
              </a:ext>
            </a:extLst>
          </p:cNvPr>
          <p:cNvSpPr/>
          <p:nvPr/>
        </p:nvSpPr>
        <p:spPr>
          <a:xfrm>
            <a:off x="723900" y="5981700"/>
            <a:ext cx="127000" cy="127000"/>
          </a:xfrm>
          <a:prstGeom prst="ellipse">
            <a:avLst/>
          </a:prstGeom>
          <a:solidFill>
            <a:srgbClr val="1DA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F3B75C-B191-F66A-C86F-C69B300253A5}"/>
              </a:ext>
            </a:extLst>
          </p:cNvPr>
          <p:cNvSpPr txBox="1"/>
          <p:nvPr/>
        </p:nvSpPr>
        <p:spPr>
          <a:xfrm>
            <a:off x="1003300" y="5892800"/>
            <a:ext cx="9626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>
                <a:solidFill>
                  <a:srgbClr val="10261D"/>
                </a:solidFill>
                <a:latin typeface="Aptos" panose="020B0004020202020204" pitchFamily="34" charset="0"/>
              </a:rPr>
              <a:t>Product included and stock rules satisfied</a:t>
            </a:r>
            <a:endParaRPr lang="th-TH" sz="13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305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0A523C-18E8-012A-AC27-A8271B348F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CAF8BE-BB0D-3AA6-791C-EEB9837CA792}"/>
              </a:ext>
            </a:extLst>
          </p:cNvPr>
          <p:cNvSpPr txBox="1"/>
          <p:nvPr/>
        </p:nvSpPr>
        <p:spPr>
          <a:xfrm>
            <a:off x="609600" y="3048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 b="1">
                <a:solidFill>
                  <a:srgbClr val="0D7A4C"/>
                </a:solidFill>
                <a:latin typeface="Aptos" panose="020B0004020202020204" pitchFamily="34" charset="0"/>
              </a:rPr>
              <a:t>GMS  /  CUSTOMER PORTAL</a:t>
            </a:r>
            <a:endParaRPr lang="th-TH" sz="9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86314E-E1E8-1F02-E65C-E3681B2D5058}"/>
              </a:ext>
            </a:extLst>
          </p:cNvPr>
          <p:cNvSpPr txBox="1"/>
          <p:nvPr/>
        </p:nvSpPr>
        <p:spPr>
          <a:xfrm>
            <a:off x="609600" y="660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0261D"/>
                </a:solidFill>
                <a:latin typeface="Aptos" panose="020B0004020202020204" pitchFamily="34" charset="0"/>
              </a:rPr>
              <a:t>Step 7 - View, save and download</a:t>
            </a:r>
            <a:endParaRPr lang="th-TH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40BE11-6B6C-3FC3-A71A-593789CD4101}"/>
              </a:ext>
            </a:extLst>
          </p:cNvPr>
          <p:cNvSpPr txBox="1"/>
          <p:nvPr/>
        </p:nvSpPr>
        <p:spPr>
          <a:xfrm>
            <a:off x="609600" y="1244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95E55"/>
                </a:solidFill>
                <a:latin typeface="Aptos" panose="020B0004020202020204" pitchFamily="34" charset="0"/>
              </a:rPr>
              <a:t>The public catalogue and PDF use the same customer access context and pricing rules.</a:t>
            </a:r>
            <a:endParaRPr lang="th-TH" sz="13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6EBF45-C38D-C683-C481-4FA69132FCC1}"/>
              </a:ext>
            </a:extLst>
          </p:cNvPr>
          <p:cNvSpPr txBox="1"/>
          <p:nvPr/>
        </p:nvSpPr>
        <p:spPr>
          <a:xfrm>
            <a:off x="11112500" y="6286500"/>
            <a:ext cx="457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h-TH" sz="1000" b="1">
                <a:solidFill>
                  <a:srgbClr val="495E55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97BF15-BE37-CAF2-CBF8-F4B0DDD36A1B}"/>
              </a:ext>
            </a:extLst>
          </p:cNvPr>
          <p:cNvSpPr txBox="1"/>
          <p:nvPr/>
        </p:nvSpPr>
        <p:spPr>
          <a:xfrm>
            <a:off x="609600" y="6286500"/>
            <a:ext cx="330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>
                <a:solidFill>
                  <a:srgbClr val="495E55"/>
                </a:solidFill>
                <a:latin typeface="Aptos" panose="020B0004020202020204" pitchFamily="34" charset="0"/>
              </a:rPr>
              <a:t>GMS Customer Portal  |  09 Sep 2026</a:t>
            </a:r>
            <a:endParaRPr lang="th-TH" sz="9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74CFAF-9B9A-A6AA-F71A-847C28ECFEC3}"/>
              </a:ext>
            </a:extLst>
          </p:cNvPr>
          <p:cNvSpPr/>
          <p:nvPr/>
        </p:nvSpPr>
        <p:spPr>
          <a:xfrm>
            <a:off x="609600" y="1841500"/>
            <a:ext cx="431800" cy="431800"/>
          </a:xfrm>
          <a:prstGeom prst="ellipse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C46618-71DB-BC2F-62F9-C3EA9CBEB627}"/>
              </a:ext>
            </a:extLst>
          </p:cNvPr>
          <p:cNvSpPr txBox="1"/>
          <p:nvPr/>
        </p:nvSpPr>
        <p:spPr>
          <a:xfrm>
            <a:off x="609600" y="1841500"/>
            <a:ext cx="4318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th-TH" sz="1500" b="1">
                <a:solidFill>
                  <a:srgbClr val="FFFFFF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F13A1A-E47D-5F28-5AA5-B37AA4A2E18C}"/>
              </a:ext>
            </a:extLst>
          </p:cNvPr>
          <p:cNvSpPr txBox="1"/>
          <p:nvPr/>
        </p:nvSpPr>
        <p:spPr>
          <a:xfrm>
            <a:off x="1219200" y="18542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2000" b="1">
                <a:solidFill>
                  <a:srgbClr val="10261D"/>
                </a:solidFill>
                <a:latin typeface="Aptos" panose="020B0004020202020204" pitchFamily="34" charset="0"/>
              </a:rPr>
              <a:t>Customer actions</a:t>
            </a:r>
            <a:endParaRPr lang="th-TH" sz="20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1A1EAA8-B622-E617-CF43-2D8097A9C5A2}"/>
              </a:ext>
            </a:extLst>
          </p:cNvPr>
          <p:cNvSpPr/>
          <p:nvPr/>
        </p:nvSpPr>
        <p:spPr>
          <a:xfrm>
            <a:off x="622300" y="2781300"/>
            <a:ext cx="32004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FCB4F40-9AE3-2FE2-9AB6-C3A8E3EDC9E6}"/>
              </a:ext>
            </a:extLst>
          </p:cNvPr>
          <p:cNvSpPr/>
          <p:nvPr/>
        </p:nvSpPr>
        <p:spPr>
          <a:xfrm>
            <a:off x="850900" y="3035300"/>
            <a:ext cx="990600" cy="317500"/>
          </a:xfrm>
          <a:prstGeom prst="roundRect">
            <a:avLst/>
          </a:prstGeom>
          <a:solidFill>
            <a:srgbClr val="004D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2E89BC-0C2F-EAC0-5846-C4E81AAE6718}"/>
              </a:ext>
            </a:extLst>
          </p:cNvPr>
          <p:cNvSpPr txBox="1"/>
          <p:nvPr/>
        </p:nvSpPr>
        <p:spPr>
          <a:xfrm>
            <a:off x="952500" y="3048000"/>
            <a:ext cx="787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OPEN</a:t>
            </a:r>
            <a:endParaRPr lang="th-TH" sz="10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5E28CF-C794-9D98-B597-E4ED367A8F10}"/>
              </a:ext>
            </a:extLst>
          </p:cNvPr>
          <p:cNvSpPr txBox="1"/>
          <p:nvPr/>
        </p:nvSpPr>
        <p:spPr>
          <a:xfrm>
            <a:off x="850900" y="3568700"/>
            <a:ext cx="2730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300" b="1">
                <a:solidFill>
                  <a:srgbClr val="10261D"/>
                </a:solidFill>
                <a:latin typeface="Aptos" panose="020B0004020202020204" pitchFamily="34" charset="0"/>
              </a:rPr>
              <a:t>View every published page</a:t>
            </a:r>
            <a:endParaRPr lang="th-TH" sz="13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659576-E0D4-CBAA-C352-E62E8C264856}"/>
              </a:ext>
            </a:extLst>
          </p:cNvPr>
          <p:cNvSpPr/>
          <p:nvPr/>
        </p:nvSpPr>
        <p:spPr>
          <a:xfrm>
            <a:off x="4216400" y="2781300"/>
            <a:ext cx="32004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D42EE8E-59DE-941A-13BD-03261801CE53}"/>
              </a:ext>
            </a:extLst>
          </p:cNvPr>
          <p:cNvSpPr/>
          <p:nvPr/>
        </p:nvSpPr>
        <p:spPr>
          <a:xfrm>
            <a:off x="4445000" y="3035300"/>
            <a:ext cx="990600" cy="317500"/>
          </a:xfrm>
          <a:prstGeom prst="roundRect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ECCF5D-2CC6-8069-CB54-8944967DAFB6}"/>
              </a:ext>
            </a:extLst>
          </p:cNvPr>
          <p:cNvSpPr txBox="1"/>
          <p:nvPr/>
        </p:nvSpPr>
        <p:spPr>
          <a:xfrm>
            <a:off x="4546600" y="3048000"/>
            <a:ext cx="787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SAVE</a:t>
            </a:r>
            <a:endParaRPr lang="th-TH" sz="10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829652-83A0-2832-6D75-6B44F8294701}"/>
              </a:ext>
            </a:extLst>
          </p:cNvPr>
          <p:cNvSpPr txBox="1"/>
          <p:nvPr/>
        </p:nvSpPr>
        <p:spPr>
          <a:xfrm>
            <a:off x="4445000" y="3568700"/>
            <a:ext cx="2730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>
                <a:solidFill>
                  <a:srgbClr val="10261D"/>
                </a:solidFill>
                <a:latin typeface="Aptos" panose="020B0004020202020204" pitchFamily="34" charset="0"/>
              </a:rPr>
              <a:t>Keep the catalogue in Saved</a:t>
            </a:r>
            <a:endParaRPr lang="th-TH" sz="13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79493D8-A132-CAED-9AE3-12A4A08D0730}"/>
              </a:ext>
            </a:extLst>
          </p:cNvPr>
          <p:cNvSpPr/>
          <p:nvPr/>
        </p:nvSpPr>
        <p:spPr>
          <a:xfrm>
            <a:off x="7810500" y="2781300"/>
            <a:ext cx="32004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BE22AD0-5A32-D553-00B1-5FEBABBEE54D}"/>
              </a:ext>
            </a:extLst>
          </p:cNvPr>
          <p:cNvSpPr/>
          <p:nvPr/>
        </p:nvSpPr>
        <p:spPr>
          <a:xfrm>
            <a:off x="8039100" y="3035300"/>
            <a:ext cx="990600" cy="317500"/>
          </a:xfrm>
          <a:prstGeom prst="roundRect">
            <a:avLst/>
          </a:prstGeom>
          <a:solidFill>
            <a:srgbClr val="306F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687001-24AB-D2C4-3AD8-99B093F5E9BC}"/>
              </a:ext>
            </a:extLst>
          </p:cNvPr>
          <p:cNvSpPr txBox="1"/>
          <p:nvPr/>
        </p:nvSpPr>
        <p:spPr>
          <a:xfrm>
            <a:off x="8140700" y="3048000"/>
            <a:ext cx="787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PDF</a:t>
            </a:r>
            <a:endParaRPr lang="th-TH" sz="10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76295-A77F-EF1B-B7A3-FE273B37F61F}"/>
              </a:ext>
            </a:extLst>
          </p:cNvPr>
          <p:cNvSpPr txBox="1"/>
          <p:nvPr/>
        </p:nvSpPr>
        <p:spPr>
          <a:xfrm>
            <a:off x="8039100" y="3568700"/>
            <a:ext cx="2730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>
                <a:solidFill>
                  <a:srgbClr val="10261D"/>
                </a:solidFill>
                <a:latin typeface="Aptos" panose="020B0004020202020204" pitchFamily="34" charset="0"/>
              </a:rPr>
              <a:t>Download when link allows it</a:t>
            </a:r>
            <a:endParaRPr lang="th-TH" sz="13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E2C5730-13BE-C2E7-E08D-DF93C2D2C37A}"/>
              </a:ext>
            </a:extLst>
          </p:cNvPr>
          <p:cNvSpPr/>
          <p:nvPr/>
        </p:nvSpPr>
        <p:spPr>
          <a:xfrm>
            <a:off x="622300" y="4787900"/>
            <a:ext cx="10388600" cy="952500"/>
          </a:xfrm>
          <a:prstGeom prst="roundRect">
            <a:avLst/>
          </a:prstGeom>
          <a:solidFill>
            <a:srgbClr val="DDF3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25BFE6-42E5-5AFC-8CA3-3B38DF9FB0FC}"/>
              </a:ext>
            </a:extLst>
          </p:cNvPr>
          <p:cNvSpPr txBox="1"/>
          <p:nvPr/>
        </p:nvSpPr>
        <p:spPr>
          <a:xfrm>
            <a:off x="914400" y="5003800"/>
            <a:ext cx="2286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000" b="1">
                <a:solidFill>
                  <a:srgbClr val="0D7A4C"/>
                </a:solidFill>
                <a:latin typeface="Aptos" panose="020B0004020202020204" pitchFamily="34" charset="0"/>
              </a:rPr>
              <a:t>Consistent output</a:t>
            </a:r>
            <a:endParaRPr lang="th-TH" sz="10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9B6630-1688-B9FE-B000-C08D1741D883}"/>
              </a:ext>
            </a:extLst>
          </p:cNvPr>
          <p:cNvSpPr txBox="1"/>
          <p:nvPr/>
        </p:nvSpPr>
        <p:spPr>
          <a:xfrm>
            <a:off x="914400" y="52959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10261D"/>
                </a:solidFill>
                <a:latin typeface="Aptos" panose="020B0004020202020204" pitchFamily="34" charset="0"/>
              </a:rPr>
              <a:t>Browser view and PDF must contain the same pages, covers, mapped prices and eligible promotions.</a:t>
            </a:r>
            <a:endParaRPr lang="th-TH" sz="15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780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D02D28-B024-9AE2-5F59-D118D8DB4D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BF499F-746C-B260-B061-EEFEEC778303}"/>
              </a:ext>
            </a:extLst>
          </p:cNvPr>
          <p:cNvSpPr txBox="1"/>
          <p:nvPr/>
        </p:nvSpPr>
        <p:spPr>
          <a:xfrm>
            <a:off x="609600" y="3048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 b="1">
                <a:solidFill>
                  <a:srgbClr val="0D7A4C"/>
                </a:solidFill>
                <a:latin typeface="Aptos" panose="020B0004020202020204" pitchFamily="34" charset="0"/>
              </a:rPr>
              <a:t>GMS  /  CUSTOMER PORTAL</a:t>
            </a:r>
            <a:endParaRPr lang="th-TH" sz="9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4D74F8-DE70-4E35-F648-E5A616A891C4}"/>
              </a:ext>
            </a:extLst>
          </p:cNvPr>
          <p:cNvSpPr txBox="1"/>
          <p:nvPr/>
        </p:nvSpPr>
        <p:spPr>
          <a:xfrm>
            <a:off x="609600" y="660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0261D"/>
                </a:solidFill>
                <a:latin typeface="Aptos" panose="020B0004020202020204" pitchFamily="34" charset="0"/>
              </a:rPr>
              <a:t>Administrator setup - five short steps</a:t>
            </a:r>
            <a:endParaRPr lang="th-TH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C9E7E7-2BFF-B0FA-DABF-5EB771306A82}"/>
              </a:ext>
            </a:extLst>
          </p:cNvPr>
          <p:cNvSpPr txBox="1"/>
          <p:nvPr/>
        </p:nvSpPr>
        <p:spPr>
          <a:xfrm>
            <a:off x="609600" y="1244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95E55"/>
                </a:solidFill>
                <a:latin typeface="Aptos" panose="020B0004020202020204" pitchFamily="34" charset="0"/>
              </a:rPr>
              <a:t>SuperAdmin or Sales Admin prepares the customer experience before sharing access.</a:t>
            </a:r>
            <a:endParaRPr lang="th-TH" sz="13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556E99-0193-4149-8FFE-644F6BE82637}"/>
              </a:ext>
            </a:extLst>
          </p:cNvPr>
          <p:cNvSpPr txBox="1"/>
          <p:nvPr/>
        </p:nvSpPr>
        <p:spPr>
          <a:xfrm>
            <a:off x="11112500" y="6286500"/>
            <a:ext cx="457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h-TH" sz="1000" b="1">
                <a:solidFill>
                  <a:srgbClr val="495E55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026137-BEF2-D81E-F096-4AAD8A5EE798}"/>
              </a:ext>
            </a:extLst>
          </p:cNvPr>
          <p:cNvSpPr txBox="1"/>
          <p:nvPr/>
        </p:nvSpPr>
        <p:spPr>
          <a:xfrm>
            <a:off x="609600" y="6286500"/>
            <a:ext cx="330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>
                <a:solidFill>
                  <a:srgbClr val="495E55"/>
                </a:solidFill>
                <a:latin typeface="Aptos" panose="020B0004020202020204" pitchFamily="34" charset="0"/>
              </a:rPr>
              <a:t>GMS Customer Portal  |  09 Sep 2026</a:t>
            </a:r>
            <a:endParaRPr lang="th-TH" sz="9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DBC5EBB-F120-4E6F-0CB8-AFDE65C85EAB}"/>
              </a:ext>
            </a:extLst>
          </p:cNvPr>
          <p:cNvSpPr/>
          <p:nvPr/>
        </p:nvSpPr>
        <p:spPr>
          <a:xfrm>
            <a:off x="609600" y="2159000"/>
            <a:ext cx="19558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265817C-FE0B-EA53-239F-6B2D32E1A4B2}"/>
              </a:ext>
            </a:extLst>
          </p:cNvPr>
          <p:cNvSpPr/>
          <p:nvPr/>
        </p:nvSpPr>
        <p:spPr>
          <a:xfrm>
            <a:off x="787400" y="2349500"/>
            <a:ext cx="381000" cy="381000"/>
          </a:xfrm>
          <a:prstGeom prst="ellipse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C9B2FA-85EA-8005-FD91-6B31EC6BE5BC}"/>
              </a:ext>
            </a:extLst>
          </p:cNvPr>
          <p:cNvSpPr txBox="1"/>
          <p:nvPr/>
        </p:nvSpPr>
        <p:spPr>
          <a:xfrm>
            <a:off x="787400" y="23495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th-TH" sz="12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E4E4B4-709D-1364-09C7-86E68AF08BBB}"/>
              </a:ext>
            </a:extLst>
          </p:cNvPr>
          <p:cNvSpPr txBox="1"/>
          <p:nvPr/>
        </p:nvSpPr>
        <p:spPr>
          <a:xfrm>
            <a:off x="1308100" y="2336800"/>
            <a:ext cx="1092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400" b="1">
                <a:solidFill>
                  <a:srgbClr val="10261D"/>
                </a:solidFill>
                <a:latin typeface="Aptos" panose="020B0004020202020204" pitchFamily="34" charset="0"/>
              </a:rPr>
              <a:t>Create profile</a:t>
            </a:r>
            <a:endParaRPr lang="th-TH" sz="14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E4B289-28AB-2DB9-5167-4667096ECDA3}"/>
              </a:ext>
            </a:extLst>
          </p:cNvPr>
          <p:cNvSpPr txBox="1"/>
          <p:nvPr/>
        </p:nvSpPr>
        <p:spPr>
          <a:xfrm>
            <a:off x="812800" y="2857500"/>
            <a:ext cx="1549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100">
                <a:solidFill>
                  <a:srgbClr val="495E55"/>
                </a:solidFill>
                <a:latin typeface="Aptos" panose="020B0004020202020204" pitchFamily="34" charset="0"/>
              </a:rPr>
              <a:t>Name + customer code + audience</a:t>
            </a:r>
            <a:endParaRPr lang="th-TH" sz="11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AF3CE8-C26A-7635-FA56-96054D6CF370}"/>
              </a:ext>
            </a:extLst>
          </p:cNvPr>
          <p:cNvCxnSpPr/>
          <p:nvPr/>
        </p:nvCxnSpPr>
        <p:spPr>
          <a:xfrm>
            <a:off x="2565400" y="3365500"/>
            <a:ext cx="228600" cy="0"/>
          </a:xfrm>
          <a:prstGeom prst="line">
            <a:avLst/>
          </a:prstGeom>
          <a:ln w="28575">
            <a:solidFill>
              <a:srgbClr val="0D7A4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2741147-5055-72DD-3CE1-C653782DD54A}"/>
              </a:ext>
            </a:extLst>
          </p:cNvPr>
          <p:cNvSpPr/>
          <p:nvPr/>
        </p:nvSpPr>
        <p:spPr>
          <a:xfrm>
            <a:off x="2819400" y="2159000"/>
            <a:ext cx="19558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48BAAB9-475A-08AB-31B4-8CC440E0CB7A}"/>
              </a:ext>
            </a:extLst>
          </p:cNvPr>
          <p:cNvSpPr/>
          <p:nvPr/>
        </p:nvSpPr>
        <p:spPr>
          <a:xfrm>
            <a:off x="2997200" y="2349500"/>
            <a:ext cx="381000" cy="381000"/>
          </a:xfrm>
          <a:prstGeom prst="ellipse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5252B3-8185-41CF-7087-17FC565A601D}"/>
              </a:ext>
            </a:extLst>
          </p:cNvPr>
          <p:cNvSpPr txBox="1"/>
          <p:nvPr/>
        </p:nvSpPr>
        <p:spPr>
          <a:xfrm>
            <a:off x="2997200" y="23495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th-TH" sz="12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94D0E8-95C9-6CD6-AF65-3E6158506D73}"/>
              </a:ext>
            </a:extLst>
          </p:cNvPr>
          <p:cNvSpPr txBox="1"/>
          <p:nvPr/>
        </p:nvSpPr>
        <p:spPr>
          <a:xfrm>
            <a:off x="3517900" y="2336800"/>
            <a:ext cx="1092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400" b="1">
                <a:solidFill>
                  <a:srgbClr val="10261D"/>
                </a:solidFill>
                <a:latin typeface="Aptos" panose="020B0004020202020204" pitchFamily="34" charset="0"/>
              </a:rPr>
              <a:t>Map brands</a:t>
            </a:r>
            <a:endParaRPr lang="th-TH" sz="14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C2D868-84C2-BBBE-7B39-B7758001D5BF}"/>
              </a:ext>
            </a:extLst>
          </p:cNvPr>
          <p:cNvSpPr txBox="1"/>
          <p:nvPr/>
        </p:nvSpPr>
        <p:spPr>
          <a:xfrm>
            <a:off x="3022600" y="2857500"/>
            <a:ext cx="1549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495E55"/>
                </a:solidFill>
                <a:latin typeface="Aptos" panose="020B0004020202020204" pitchFamily="34" charset="0"/>
              </a:rPr>
              <a:t>Choose the ERP level for each brand</a:t>
            </a:r>
            <a:endParaRPr lang="th-TH" sz="11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B20A1BE-D93C-92B1-64EC-4785294AB491}"/>
              </a:ext>
            </a:extLst>
          </p:cNvPr>
          <p:cNvCxnSpPr/>
          <p:nvPr/>
        </p:nvCxnSpPr>
        <p:spPr>
          <a:xfrm>
            <a:off x="4775200" y="3365500"/>
            <a:ext cx="228600" cy="0"/>
          </a:xfrm>
          <a:prstGeom prst="line">
            <a:avLst/>
          </a:prstGeom>
          <a:ln w="28575">
            <a:solidFill>
              <a:srgbClr val="0D7A4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24AC6D6-B247-AB62-3750-650836A495CF}"/>
              </a:ext>
            </a:extLst>
          </p:cNvPr>
          <p:cNvSpPr/>
          <p:nvPr/>
        </p:nvSpPr>
        <p:spPr>
          <a:xfrm>
            <a:off x="5029200" y="2159000"/>
            <a:ext cx="19558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9872DDA-DF09-F973-8860-FC9FEA3EB5A9}"/>
              </a:ext>
            </a:extLst>
          </p:cNvPr>
          <p:cNvSpPr/>
          <p:nvPr/>
        </p:nvSpPr>
        <p:spPr>
          <a:xfrm>
            <a:off x="5207000" y="2349500"/>
            <a:ext cx="381000" cy="381000"/>
          </a:xfrm>
          <a:prstGeom prst="ellipse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C27907-7A31-CAB2-8F27-A1FAD55D94AE}"/>
              </a:ext>
            </a:extLst>
          </p:cNvPr>
          <p:cNvSpPr txBox="1"/>
          <p:nvPr/>
        </p:nvSpPr>
        <p:spPr>
          <a:xfrm>
            <a:off x="5207000" y="23495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th-TH" sz="12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54C1D0-BC70-747C-55F7-21822315CF0F}"/>
              </a:ext>
            </a:extLst>
          </p:cNvPr>
          <p:cNvSpPr txBox="1"/>
          <p:nvPr/>
        </p:nvSpPr>
        <p:spPr>
          <a:xfrm>
            <a:off x="5727700" y="2336800"/>
            <a:ext cx="1092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400" b="1">
                <a:solidFill>
                  <a:srgbClr val="10261D"/>
                </a:solidFill>
                <a:latin typeface="Aptos" panose="020B0004020202020204" pitchFamily="34" charset="0"/>
              </a:rPr>
              <a:t>Publish</a:t>
            </a:r>
            <a:endParaRPr lang="th-TH" sz="14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3EBAD5-F1D8-7264-CE3D-454EA1B96AF2}"/>
              </a:ext>
            </a:extLst>
          </p:cNvPr>
          <p:cNvSpPr txBox="1"/>
          <p:nvPr/>
        </p:nvSpPr>
        <p:spPr>
          <a:xfrm>
            <a:off x="5232400" y="2857500"/>
            <a:ext cx="1549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100">
                <a:solidFill>
                  <a:srgbClr val="495E55"/>
                </a:solidFill>
                <a:latin typeface="Aptos" panose="020B0004020202020204" pitchFamily="34" charset="0"/>
              </a:rPr>
              <a:t>Publish the relevant catalogues</a:t>
            </a:r>
            <a:endParaRPr lang="th-TH" sz="11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6FB5CD1-EA7D-7EAB-D3AC-124F83D05E1D}"/>
              </a:ext>
            </a:extLst>
          </p:cNvPr>
          <p:cNvCxnSpPr/>
          <p:nvPr/>
        </p:nvCxnSpPr>
        <p:spPr>
          <a:xfrm>
            <a:off x="6985000" y="3365500"/>
            <a:ext cx="228600" cy="0"/>
          </a:xfrm>
          <a:prstGeom prst="line">
            <a:avLst/>
          </a:prstGeom>
          <a:ln w="28575">
            <a:solidFill>
              <a:srgbClr val="0D7A4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9B6C5F2-0BF9-EB19-606D-4E5144C10678}"/>
              </a:ext>
            </a:extLst>
          </p:cNvPr>
          <p:cNvSpPr/>
          <p:nvPr/>
        </p:nvSpPr>
        <p:spPr>
          <a:xfrm>
            <a:off x="7239000" y="2159000"/>
            <a:ext cx="19558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E89F7EE-B433-E03E-634D-B997A595753F}"/>
              </a:ext>
            </a:extLst>
          </p:cNvPr>
          <p:cNvSpPr/>
          <p:nvPr/>
        </p:nvSpPr>
        <p:spPr>
          <a:xfrm>
            <a:off x="7416800" y="2349500"/>
            <a:ext cx="381000" cy="381000"/>
          </a:xfrm>
          <a:prstGeom prst="ellipse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63C1EE-9728-052E-70EA-3E87AC3750C6}"/>
              </a:ext>
            </a:extLst>
          </p:cNvPr>
          <p:cNvSpPr txBox="1"/>
          <p:nvPr/>
        </p:nvSpPr>
        <p:spPr>
          <a:xfrm>
            <a:off x="7416800" y="23495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th-TH" sz="12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42CF8F-81EE-B21B-31F1-264DE49220C8}"/>
              </a:ext>
            </a:extLst>
          </p:cNvPr>
          <p:cNvSpPr txBox="1"/>
          <p:nvPr/>
        </p:nvSpPr>
        <p:spPr>
          <a:xfrm>
            <a:off x="7937500" y="2336800"/>
            <a:ext cx="1092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400" b="1">
                <a:solidFill>
                  <a:srgbClr val="10261D"/>
                </a:solidFill>
                <a:latin typeface="Aptos" panose="020B0004020202020204" pitchFamily="34" charset="0"/>
              </a:rPr>
              <a:t>Attach offer</a:t>
            </a:r>
            <a:endParaRPr lang="th-TH" sz="14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C6B606-3C3B-3C8F-3615-AD6027467981}"/>
              </a:ext>
            </a:extLst>
          </p:cNvPr>
          <p:cNvSpPr txBox="1"/>
          <p:nvPr/>
        </p:nvSpPr>
        <p:spPr>
          <a:xfrm>
            <a:off x="7442200" y="2857500"/>
            <a:ext cx="1549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495E55"/>
                </a:solidFill>
                <a:latin typeface="Aptos" panose="020B0004020202020204" pitchFamily="34" charset="0"/>
              </a:rPr>
              <a:t>Optionally attach an active promotion</a:t>
            </a:r>
            <a:endParaRPr lang="th-TH" sz="11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E5610E5-231C-5E90-880B-5C04C0D9AD81}"/>
              </a:ext>
            </a:extLst>
          </p:cNvPr>
          <p:cNvCxnSpPr/>
          <p:nvPr/>
        </p:nvCxnSpPr>
        <p:spPr>
          <a:xfrm>
            <a:off x="9194800" y="3365500"/>
            <a:ext cx="228600" cy="0"/>
          </a:xfrm>
          <a:prstGeom prst="line">
            <a:avLst/>
          </a:prstGeom>
          <a:ln w="28575">
            <a:solidFill>
              <a:srgbClr val="0D7A4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9E7FBBD-95EB-AB40-7D85-ACB497766B45}"/>
              </a:ext>
            </a:extLst>
          </p:cNvPr>
          <p:cNvSpPr/>
          <p:nvPr/>
        </p:nvSpPr>
        <p:spPr>
          <a:xfrm>
            <a:off x="9448800" y="2159000"/>
            <a:ext cx="1955800" cy="2413000"/>
          </a:xfrm>
          <a:prstGeom prst="roundRect">
            <a:avLst/>
          </a:prstGeom>
          <a:solidFill>
            <a:srgbClr val="DDF3E7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418A698-F1F1-25FC-5851-01A97E4AA09D}"/>
              </a:ext>
            </a:extLst>
          </p:cNvPr>
          <p:cNvSpPr/>
          <p:nvPr/>
        </p:nvSpPr>
        <p:spPr>
          <a:xfrm>
            <a:off x="9626600" y="2349500"/>
            <a:ext cx="381000" cy="381000"/>
          </a:xfrm>
          <a:prstGeom prst="ellipse">
            <a:avLst/>
          </a:prstGeom>
          <a:solidFill>
            <a:srgbClr val="0D7A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AE03F6-F731-B56A-E41B-D7874AEA6400}"/>
              </a:ext>
            </a:extLst>
          </p:cNvPr>
          <p:cNvSpPr txBox="1"/>
          <p:nvPr/>
        </p:nvSpPr>
        <p:spPr>
          <a:xfrm>
            <a:off x="9626600" y="23495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th-TH" sz="12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010129-80D7-611C-8E44-3C51544F24E9}"/>
              </a:ext>
            </a:extLst>
          </p:cNvPr>
          <p:cNvSpPr txBox="1"/>
          <p:nvPr/>
        </p:nvSpPr>
        <p:spPr>
          <a:xfrm>
            <a:off x="10147300" y="2336800"/>
            <a:ext cx="1092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400" b="1">
                <a:solidFill>
                  <a:srgbClr val="10261D"/>
                </a:solidFill>
                <a:latin typeface="Aptos" panose="020B0004020202020204" pitchFamily="34" charset="0"/>
              </a:rPr>
              <a:t>Share access</a:t>
            </a:r>
            <a:endParaRPr lang="th-TH" sz="14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E2EDF3-EB46-3F60-3AD5-7D7B83495A80}"/>
              </a:ext>
            </a:extLst>
          </p:cNvPr>
          <p:cNvSpPr txBox="1"/>
          <p:nvPr/>
        </p:nvSpPr>
        <p:spPr>
          <a:xfrm>
            <a:off x="9652000" y="2857500"/>
            <a:ext cx="15494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495E55"/>
                </a:solidFill>
                <a:latin typeface="Aptos" panose="020B0004020202020204" pitchFamily="34" charset="0"/>
              </a:rPr>
              <a:t>Issue a named customer link/code</a:t>
            </a:r>
            <a:endParaRPr lang="th-TH" sz="11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AE2E0C9-DFDC-0F77-8976-8284F9CC5310}"/>
              </a:ext>
            </a:extLst>
          </p:cNvPr>
          <p:cNvSpPr txBox="1"/>
          <p:nvPr/>
        </p:nvSpPr>
        <p:spPr>
          <a:xfrm>
            <a:off x="609600" y="5041900"/>
            <a:ext cx="190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100" b="1">
                <a:solidFill>
                  <a:srgbClr val="0D7A4C"/>
                </a:solidFill>
                <a:latin typeface="Aptos" panose="020B0004020202020204" pitchFamily="34" charset="0"/>
              </a:rPr>
              <a:t>Keep it simple</a:t>
            </a:r>
            <a:endParaRPr lang="th-TH" sz="11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C99587-382D-EB08-DFC9-1BBBF53AAB9B}"/>
              </a:ext>
            </a:extLst>
          </p:cNvPr>
          <p:cNvSpPr txBox="1"/>
          <p:nvPr/>
        </p:nvSpPr>
        <p:spPr>
          <a:xfrm>
            <a:off x="609600" y="5384800"/>
            <a:ext cx="10668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10261D"/>
                </a:solidFill>
                <a:latin typeface="Aptos" panose="020B0004020202020204" pitchFamily="34" charset="0"/>
              </a:rPr>
              <a:t>The customer never chooses a price list. Administrators configure the rules once; the platform resolves them automatically.</a:t>
            </a:r>
            <a:endParaRPr lang="th-TH" sz="16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38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3A470B-B753-E8B5-511E-7F9D896A15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B69757-E27C-1ABE-F283-8CC9B1EB2EEE}"/>
              </a:ext>
            </a:extLst>
          </p:cNvPr>
          <p:cNvSpPr txBox="1"/>
          <p:nvPr/>
        </p:nvSpPr>
        <p:spPr>
          <a:xfrm>
            <a:off x="609600" y="3048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 b="1">
                <a:solidFill>
                  <a:srgbClr val="0D7A4C"/>
                </a:solidFill>
                <a:latin typeface="Aptos" panose="020B0004020202020204" pitchFamily="34" charset="0"/>
              </a:rPr>
              <a:t>GMS  /  CUSTOMER PORTAL</a:t>
            </a:r>
            <a:endParaRPr lang="th-TH" sz="9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0F6821-5CF1-8AD5-5ADE-95E051846CCA}"/>
              </a:ext>
            </a:extLst>
          </p:cNvPr>
          <p:cNvSpPr txBox="1"/>
          <p:nvPr/>
        </p:nvSpPr>
        <p:spPr>
          <a:xfrm>
            <a:off x="609600" y="660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b="1">
                <a:solidFill>
                  <a:srgbClr val="10261D"/>
                </a:solidFill>
                <a:latin typeface="Aptos" panose="020B0004020202020204" pitchFamily="34" charset="0"/>
              </a:rPr>
              <a:t>Permissions and security controls</a:t>
            </a:r>
            <a:endParaRPr lang="th-TH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441755-A416-030D-F603-7F6A525F3BB8}"/>
              </a:ext>
            </a:extLst>
          </p:cNvPr>
          <p:cNvSpPr txBox="1"/>
          <p:nvPr/>
        </p:nvSpPr>
        <p:spPr>
          <a:xfrm>
            <a:off x="609600" y="1244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95E55"/>
                </a:solidFill>
                <a:latin typeface="Aptos" panose="020B0004020202020204" pitchFamily="34" charset="0"/>
              </a:rPr>
              <a:t>Customer convenience must not weaken commercial data controls.</a:t>
            </a:r>
            <a:endParaRPr lang="th-TH" sz="13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58E9E5-27C9-BAA9-9A5D-079AB3428002}"/>
              </a:ext>
            </a:extLst>
          </p:cNvPr>
          <p:cNvSpPr txBox="1"/>
          <p:nvPr/>
        </p:nvSpPr>
        <p:spPr>
          <a:xfrm>
            <a:off x="11112500" y="6286500"/>
            <a:ext cx="457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h-TH" sz="1000" b="1">
                <a:solidFill>
                  <a:srgbClr val="495E55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B0A873-1D3A-BC32-1602-89B429C4984A}"/>
              </a:ext>
            </a:extLst>
          </p:cNvPr>
          <p:cNvSpPr txBox="1"/>
          <p:nvPr/>
        </p:nvSpPr>
        <p:spPr>
          <a:xfrm>
            <a:off x="609600" y="6286500"/>
            <a:ext cx="330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>
                <a:solidFill>
                  <a:srgbClr val="495E55"/>
                </a:solidFill>
                <a:latin typeface="Aptos" panose="020B0004020202020204" pitchFamily="34" charset="0"/>
              </a:rPr>
              <a:t>GMS Customer Portal  |  09 Sep 2026</a:t>
            </a:r>
            <a:endParaRPr lang="th-TH" sz="9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D2321F7-673C-D5E8-5E36-D854EC4B61B8}"/>
              </a:ext>
            </a:extLst>
          </p:cNvPr>
          <p:cNvSpPr/>
          <p:nvPr/>
        </p:nvSpPr>
        <p:spPr>
          <a:xfrm>
            <a:off x="609600" y="1917700"/>
            <a:ext cx="5080000" cy="3721100"/>
          </a:xfrm>
          <a:prstGeom prst="roundRect">
            <a:avLst/>
          </a:prstGeom>
          <a:solidFill>
            <a:srgbClr val="004D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BDF0EF-EA5A-C37C-D2EE-942A337BFD5E}"/>
              </a:ext>
            </a:extLst>
          </p:cNvPr>
          <p:cNvSpPr txBox="1"/>
          <p:nvPr/>
        </p:nvSpPr>
        <p:spPr>
          <a:xfrm>
            <a:off x="965200" y="2273300"/>
            <a:ext cx="2286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000" b="1">
                <a:solidFill>
                  <a:srgbClr val="DDF3E7"/>
                </a:solidFill>
                <a:latin typeface="Aptos" panose="020B0004020202020204" pitchFamily="34" charset="0"/>
              </a:rPr>
              <a:t>CUSTOMER CAN</a:t>
            </a:r>
            <a:endParaRPr lang="th-TH" sz="1000" b="1">
              <a:solidFill>
                <a:srgbClr val="DDF3E7"/>
              </a:solidFill>
              <a:latin typeface="Aptos" panose="020B0004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03B67F-EDE5-94AE-5AAE-B26E8D90DC57}"/>
              </a:ext>
            </a:extLst>
          </p:cNvPr>
          <p:cNvSpPr/>
          <p:nvPr/>
        </p:nvSpPr>
        <p:spPr>
          <a:xfrm>
            <a:off x="965200" y="2857500"/>
            <a:ext cx="127000" cy="127000"/>
          </a:xfrm>
          <a:prstGeom prst="ellipse">
            <a:avLst/>
          </a:prstGeom>
          <a:solidFill>
            <a:srgbClr val="1DA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E75FC0-0777-6FCC-6526-86FF169EA354}"/>
              </a:ext>
            </a:extLst>
          </p:cNvPr>
          <p:cNvSpPr txBox="1"/>
          <p:nvPr/>
        </p:nvSpPr>
        <p:spPr>
          <a:xfrm>
            <a:off x="1244600" y="2768600"/>
            <a:ext cx="3911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300">
                <a:solidFill>
                  <a:srgbClr val="FFFFFF"/>
                </a:solidFill>
                <a:latin typeface="Aptos" panose="020B0004020202020204" pitchFamily="34" charset="0"/>
              </a:rPr>
              <a:t>View published catalogues</a:t>
            </a:r>
            <a:endParaRPr lang="th-TH" sz="13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E7888C9-AD76-C876-6B98-40295CCB5B16}"/>
              </a:ext>
            </a:extLst>
          </p:cNvPr>
          <p:cNvSpPr/>
          <p:nvPr/>
        </p:nvSpPr>
        <p:spPr>
          <a:xfrm>
            <a:off x="965200" y="3378200"/>
            <a:ext cx="127000" cy="127000"/>
          </a:xfrm>
          <a:prstGeom prst="ellipse">
            <a:avLst/>
          </a:prstGeom>
          <a:solidFill>
            <a:srgbClr val="1DA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2B1936-14E2-6F34-0B06-33FA4F82D07B}"/>
              </a:ext>
            </a:extLst>
          </p:cNvPr>
          <p:cNvSpPr txBox="1"/>
          <p:nvPr/>
        </p:nvSpPr>
        <p:spPr>
          <a:xfrm>
            <a:off x="1244600" y="3289300"/>
            <a:ext cx="3911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300">
                <a:solidFill>
                  <a:srgbClr val="FFFFFF"/>
                </a:solidFill>
                <a:latin typeface="Aptos" panose="020B0004020202020204" pitchFamily="34" charset="0"/>
              </a:rPr>
              <a:t>Open active promotions</a:t>
            </a:r>
            <a:endParaRPr lang="th-TH" sz="13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C1F6C92-B4F1-FFE1-5824-A205E002BB18}"/>
              </a:ext>
            </a:extLst>
          </p:cNvPr>
          <p:cNvSpPr/>
          <p:nvPr/>
        </p:nvSpPr>
        <p:spPr>
          <a:xfrm>
            <a:off x="965200" y="3898900"/>
            <a:ext cx="127000" cy="127000"/>
          </a:xfrm>
          <a:prstGeom prst="ellipse">
            <a:avLst/>
          </a:prstGeom>
          <a:solidFill>
            <a:srgbClr val="1DA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3CCF8B-B838-D294-FC23-6B3AA31A3D0B}"/>
              </a:ext>
            </a:extLst>
          </p:cNvPr>
          <p:cNvSpPr txBox="1"/>
          <p:nvPr/>
        </p:nvSpPr>
        <p:spPr>
          <a:xfrm>
            <a:off x="1244600" y="3810000"/>
            <a:ext cx="3911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300">
                <a:solidFill>
                  <a:srgbClr val="FFFFFF"/>
                </a:solidFill>
                <a:latin typeface="Aptos" panose="020B0004020202020204" pitchFamily="34" charset="0"/>
              </a:rPr>
              <a:t>See resolved account prices</a:t>
            </a:r>
            <a:endParaRPr lang="th-TH" sz="13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BBB2DAF-1523-482B-3032-21E52AF13F80}"/>
              </a:ext>
            </a:extLst>
          </p:cNvPr>
          <p:cNvSpPr/>
          <p:nvPr/>
        </p:nvSpPr>
        <p:spPr>
          <a:xfrm>
            <a:off x="965200" y="4419600"/>
            <a:ext cx="127000" cy="127000"/>
          </a:xfrm>
          <a:prstGeom prst="ellipse">
            <a:avLst/>
          </a:prstGeom>
          <a:solidFill>
            <a:srgbClr val="1DA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D0D9A3-9646-59A4-659B-710DC4D82C8B}"/>
              </a:ext>
            </a:extLst>
          </p:cNvPr>
          <p:cNvSpPr txBox="1"/>
          <p:nvPr/>
        </p:nvSpPr>
        <p:spPr>
          <a:xfrm>
            <a:off x="1244600" y="4330700"/>
            <a:ext cx="3911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>
                <a:solidFill>
                  <a:srgbClr val="FFFFFF"/>
                </a:solidFill>
                <a:latin typeface="Aptos" panose="020B0004020202020204" pitchFamily="34" charset="0"/>
              </a:rPr>
              <a:t>Save and download allowed content</a:t>
            </a:r>
            <a:endParaRPr lang="th-TH" sz="13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10BAB35-E8DD-EAE3-165F-250C37D9AA0C}"/>
              </a:ext>
            </a:extLst>
          </p:cNvPr>
          <p:cNvSpPr/>
          <p:nvPr/>
        </p:nvSpPr>
        <p:spPr>
          <a:xfrm>
            <a:off x="965200" y="4940300"/>
            <a:ext cx="127000" cy="127000"/>
          </a:xfrm>
          <a:prstGeom prst="ellipse">
            <a:avLst/>
          </a:prstGeom>
          <a:solidFill>
            <a:srgbClr val="1DA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00BDE3-2AE7-D4D1-7658-E95DC7B531B5}"/>
              </a:ext>
            </a:extLst>
          </p:cNvPr>
          <p:cNvSpPr txBox="1"/>
          <p:nvPr/>
        </p:nvSpPr>
        <p:spPr>
          <a:xfrm>
            <a:off x="1244600" y="4851400"/>
            <a:ext cx="3911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>
                <a:solidFill>
                  <a:srgbClr val="FFFFFF"/>
                </a:solidFill>
                <a:latin typeface="Aptos" panose="020B0004020202020204" pitchFamily="34" charset="0"/>
              </a:rPr>
              <a:t>Switch EN / TH and get help</a:t>
            </a:r>
            <a:endParaRPr lang="th-TH" sz="13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503AC6E-0DF9-6718-9DD9-CE6AFF25285A}"/>
              </a:ext>
            </a:extLst>
          </p:cNvPr>
          <p:cNvSpPr/>
          <p:nvPr/>
        </p:nvSpPr>
        <p:spPr>
          <a:xfrm>
            <a:off x="6007100" y="1917700"/>
            <a:ext cx="5397500" cy="3721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DD42E4-BE0C-F388-3C2A-AB2FD35B290A}"/>
              </a:ext>
            </a:extLst>
          </p:cNvPr>
          <p:cNvSpPr txBox="1"/>
          <p:nvPr/>
        </p:nvSpPr>
        <p:spPr>
          <a:xfrm>
            <a:off x="6362700" y="2273300"/>
            <a:ext cx="2667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000" b="1">
                <a:solidFill>
                  <a:srgbClr val="0D7A4C"/>
                </a:solidFill>
                <a:latin typeface="Aptos" panose="020B0004020202020204" pitchFamily="34" charset="0"/>
              </a:rPr>
              <a:t>PLATFORM ENFORCES</a:t>
            </a:r>
            <a:endParaRPr lang="th-TH" sz="10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771478C-CF55-91B3-531C-9F3F9EAC0C66}"/>
              </a:ext>
            </a:extLst>
          </p:cNvPr>
          <p:cNvSpPr/>
          <p:nvPr/>
        </p:nvSpPr>
        <p:spPr>
          <a:xfrm>
            <a:off x="6362700" y="2857500"/>
            <a:ext cx="127000" cy="127000"/>
          </a:xfrm>
          <a:prstGeom prst="ellipse">
            <a:avLst/>
          </a:prstGeom>
          <a:solidFill>
            <a:srgbClr val="1DA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C4F7C0-B443-51B8-3F22-9E2CDB36706D}"/>
              </a:ext>
            </a:extLst>
          </p:cNvPr>
          <p:cNvSpPr txBox="1"/>
          <p:nvPr/>
        </p:nvSpPr>
        <p:spPr>
          <a:xfrm>
            <a:off x="6642100" y="2768600"/>
            <a:ext cx="4165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300">
                <a:solidFill>
                  <a:srgbClr val="10261D"/>
                </a:solidFill>
                <a:latin typeface="Aptos" panose="020B0004020202020204" pitchFamily="34" charset="0"/>
              </a:rPr>
              <a:t>Customer Account role required</a:t>
            </a:r>
            <a:endParaRPr lang="th-TH" sz="13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7A03A07-3DA0-C6D2-9877-89821D370DE0}"/>
              </a:ext>
            </a:extLst>
          </p:cNvPr>
          <p:cNvSpPr/>
          <p:nvPr/>
        </p:nvSpPr>
        <p:spPr>
          <a:xfrm>
            <a:off x="6362700" y="3378200"/>
            <a:ext cx="127000" cy="127000"/>
          </a:xfrm>
          <a:prstGeom prst="ellipse">
            <a:avLst/>
          </a:prstGeom>
          <a:solidFill>
            <a:srgbClr val="1DA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5A970A-8A8D-9ED9-9897-7D37B2AF360D}"/>
              </a:ext>
            </a:extLst>
          </p:cNvPr>
          <p:cNvSpPr txBox="1"/>
          <p:nvPr/>
        </p:nvSpPr>
        <p:spPr>
          <a:xfrm>
            <a:off x="6642100" y="3289300"/>
            <a:ext cx="4165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>
                <a:solidFill>
                  <a:srgbClr val="10261D"/>
                </a:solidFill>
                <a:latin typeface="Aptos" panose="020B0004020202020204" pitchFamily="34" charset="0"/>
              </a:rPr>
              <a:t>Named, scoped access link required</a:t>
            </a:r>
            <a:endParaRPr lang="th-TH" sz="13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99EB7D7-8551-A97B-F9CE-6F1CF2AB1A8D}"/>
              </a:ext>
            </a:extLst>
          </p:cNvPr>
          <p:cNvSpPr/>
          <p:nvPr/>
        </p:nvSpPr>
        <p:spPr>
          <a:xfrm>
            <a:off x="6362700" y="3898900"/>
            <a:ext cx="127000" cy="127000"/>
          </a:xfrm>
          <a:prstGeom prst="ellipse">
            <a:avLst/>
          </a:prstGeom>
          <a:solidFill>
            <a:srgbClr val="1DA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4BEB43-79DE-E4C4-77F3-479FFB2F4DB4}"/>
              </a:ext>
            </a:extLst>
          </p:cNvPr>
          <p:cNvSpPr txBox="1"/>
          <p:nvPr/>
        </p:nvSpPr>
        <p:spPr>
          <a:xfrm>
            <a:off x="6642100" y="3810000"/>
            <a:ext cx="4165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>
                <a:solidFill>
                  <a:srgbClr val="10261D"/>
                </a:solidFill>
                <a:latin typeface="Aptos" panose="020B0004020202020204" pitchFamily="34" charset="0"/>
              </a:rPr>
              <a:t>Draft and archived catalogues excluded</a:t>
            </a:r>
            <a:endParaRPr lang="th-TH" sz="13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F52362-5BF9-15F1-FB14-8D5996ED81B2}"/>
              </a:ext>
            </a:extLst>
          </p:cNvPr>
          <p:cNvSpPr/>
          <p:nvPr/>
        </p:nvSpPr>
        <p:spPr>
          <a:xfrm>
            <a:off x="6362700" y="4419600"/>
            <a:ext cx="127000" cy="127000"/>
          </a:xfrm>
          <a:prstGeom prst="ellipse">
            <a:avLst/>
          </a:prstGeom>
          <a:solidFill>
            <a:srgbClr val="1DA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C82574-FF6B-FDCF-63CF-38B17BC24466}"/>
              </a:ext>
            </a:extLst>
          </p:cNvPr>
          <p:cNvSpPr txBox="1"/>
          <p:nvPr/>
        </p:nvSpPr>
        <p:spPr>
          <a:xfrm>
            <a:off x="6642100" y="4330700"/>
            <a:ext cx="4165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>
                <a:solidFill>
                  <a:srgbClr val="10261D"/>
                </a:solidFill>
                <a:latin typeface="Aptos" panose="020B0004020202020204" pitchFamily="34" charset="0"/>
              </a:rPr>
              <a:t>Expired or revoked links rejected</a:t>
            </a:r>
            <a:endParaRPr lang="th-TH" sz="13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4C0B873-A575-9794-D5E8-3966E353D290}"/>
              </a:ext>
            </a:extLst>
          </p:cNvPr>
          <p:cNvSpPr/>
          <p:nvPr/>
        </p:nvSpPr>
        <p:spPr>
          <a:xfrm>
            <a:off x="6362700" y="4940300"/>
            <a:ext cx="127000" cy="127000"/>
          </a:xfrm>
          <a:prstGeom prst="ellipse">
            <a:avLst/>
          </a:prstGeom>
          <a:solidFill>
            <a:srgbClr val="1DA16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6C85B0-3BA9-F9EE-8F8A-F182368A2EA9}"/>
              </a:ext>
            </a:extLst>
          </p:cNvPr>
          <p:cNvSpPr txBox="1"/>
          <p:nvPr/>
        </p:nvSpPr>
        <p:spPr>
          <a:xfrm>
            <a:off x="6642100" y="4851400"/>
            <a:ext cx="4165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300">
                <a:solidFill>
                  <a:srgbClr val="10261D"/>
                </a:solidFill>
                <a:latin typeface="Aptos" panose="020B0004020202020204" pitchFamily="34" charset="0"/>
              </a:rPr>
              <a:t>Admin, edit and pricing controls hidden</a:t>
            </a:r>
            <a:endParaRPr lang="th-TH" sz="13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BFC206-887C-2F9C-63F5-8F6F91C0AE6A}"/>
              </a:ext>
            </a:extLst>
          </p:cNvPr>
          <p:cNvSpPr txBox="1"/>
          <p:nvPr/>
        </p:nvSpPr>
        <p:spPr>
          <a:xfrm>
            <a:off x="609600" y="59182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400" b="1">
                <a:solidFill>
                  <a:srgbClr val="10261D"/>
                </a:solidFill>
                <a:latin typeface="Aptos" panose="020B0004020202020204" pitchFamily="34" charset="0"/>
              </a:rPr>
              <a:t>Access is secure by role + customer context + link status.</a:t>
            </a:r>
            <a:endParaRPr lang="th-TH" sz="1400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027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AC40C3-7D03-B4E5-0F70-B14A9B4510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68EDB1-2B71-CE31-7AAF-BD35B3A02DF6}"/>
              </a:ext>
            </a:extLst>
          </p:cNvPr>
          <p:cNvSpPr txBox="1"/>
          <p:nvPr/>
        </p:nvSpPr>
        <p:spPr>
          <a:xfrm>
            <a:off x="609600" y="3048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 b="1">
                <a:solidFill>
                  <a:srgbClr val="0D7A4C"/>
                </a:solidFill>
                <a:latin typeface="Aptos" panose="020B0004020202020204" pitchFamily="34" charset="0"/>
              </a:rPr>
              <a:t>GMS  /  CUSTOMER PORTAL</a:t>
            </a:r>
            <a:endParaRPr lang="th-TH" sz="9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4C11BC-24E7-726F-3D7A-01A4A2EB6082}"/>
              </a:ext>
            </a:extLst>
          </p:cNvPr>
          <p:cNvSpPr txBox="1"/>
          <p:nvPr/>
        </p:nvSpPr>
        <p:spPr>
          <a:xfrm>
            <a:off x="609600" y="6604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0261D"/>
                </a:solidFill>
                <a:latin typeface="Aptos" panose="020B0004020202020204" pitchFamily="34" charset="0"/>
              </a:rPr>
              <a:t>Clear fallback rules prevent pricing mistakes</a:t>
            </a:r>
            <a:endParaRPr lang="th-TH" b="1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C22B42-1A89-7A7A-825E-F54AC33A8C8B}"/>
              </a:ext>
            </a:extLst>
          </p:cNvPr>
          <p:cNvSpPr txBox="1"/>
          <p:nvPr/>
        </p:nvSpPr>
        <p:spPr>
          <a:xfrm>
            <a:off x="609600" y="1244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95E55"/>
                </a:solidFill>
                <a:latin typeface="Aptos" panose="020B0004020202020204" pitchFamily="34" charset="0"/>
              </a:rPr>
              <a:t>Every missing or invalid condition produces a predictable customer-safe result.</a:t>
            </a:r>
            <a:endParaRPr lang="th-TH" sz="13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132ECC-F14F-3348-4059-75B4A858764F}"/>
              </a:ext>
            </a:extLst>
          </p:cNvPr>
          <p:cNvSpPr txBox="1"/>
          <p:nvPr/>
        </p:nvSpPr>
        <p:spPr>
          <a:xfrm>
            <a:off x="11112500" y="6286500"/>
            <a:ext cx="457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h-TH" sz="1000" b="1">
                <a:solidFill>
                  <a:srgbClr val="495E55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F7A7E7-A883-5096-3F58-0134DED805B5}"/>
              </a:ext>
            </a:extLst>
          </p:cNvPr>
          <p:cNvSpPr txBox="1"/>
          <p:nvPr/>
        </p:nvSpPr>
        <p:spPr>
          <a:xfrm>
            <a:off x="609600" y="6286500"/>
            <a:ext cx="330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900">
                <a:solidFill>
                  <a:srgbClr val="495E55"/>
                </a:solidFill>
                <a:latin typeface="Aptos" panose="020B0004020202020204" pitchFamily="34" charset="0"/>
              </a:rPr>
              <a:t>GMS Customer Portal  |  09 Sep 2026</a:t>
            </a:r>
            <a:endParaRPr lang="th-TH" sz="900">
              <a:solidFill>
                <a:srgbClr val="495E55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17EC3C-2396-AF2E-29FD-7D29ECD6C222}"/>
              </a:ext>
            </a:extLst>
          </p:cNvPr>
          <p:cNvSpPr/>
          <p:nvPr/>
        </p:nvSpPr>
        <p:spPr>
          <a:xfrm>
            <a:off x="609600" y="1993900"/>
            <a:ext cx="3302000" cy="508000"/>
          </a:xfrm>
          <a:prstGeom prst="rect">
            <a:avLst/>
          </a:prstGeom>
          <a:solidFill>
            <a:srgbClr val="004D33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088BA1-1434-8341-BEF6-38EC51627753}"/>
              </a:ext>
            </a:extLst>
          </p:cNvPr>
          <p:cNvSpPr txBox="1"/>
          <p:nvPr/>
        </p:nvSpPr>
        <p:spPr>
          <a:xfrm>
            <a:off x="736600" y="2019300"/>
            <a:ext cx="3048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CONDITION</a:t>
            </a:r>
            <a:endParaRPr lang="th-TH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38E7EB-0FB5-8D8C-2D4E-D0B705D65883}"/>
              </a:ext>
            </a:extLst>
          </p:cNvPr>
          <p:cNvSpPr/>
          <p:nvPr/>
        </p:nvSpPr>
        <p:spPr>
          <a:xfrm>
            <a:off x="3911600" y="1993900"/>
            <a:ext cx="3746500" cy="508000"/>
          </a:xfrm>
          <a:prstGeom prst="rect">
            <a:avLst/>
          </a:prstGeom>
          <a:solidFill>
            <a:srgbClr val="004D33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FD60C7-3F46-465B-DF62-85E93EEE4F93}"/>
              </a:ext>
            </a:extLst>
          </p:cNvPr>
          <p:cNvSpPr txBox="1"/>
          <p:nvPr/>
        </p:nvSpPr>
        <p:spPr>
          <a:xfrm>
            <a:off x="4038600" y="2019300"/>
            <a:ext cx="3492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PLATFORM RESPONSE</a:t>
            </a:r>
            <a:endParaRPr lang="th-TH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63AE94-B1B6-49B4-3206-07039F448A6B}"/>
              </a:ext>
            </a:extLst>
          </p:cNvPr>
          <p:cNvSpPr/>
          <p:nvPr/>
        </p:nvSpPr>
        <p:spPr>
          <a:xfrm>
            <a:off x="7658100" y="1993900"/>
            <a:ext cx="3746500" cy="508000"/>
          </a:xfrm>
          <a:prstGeom prst="rect">
            <a:avLst/>
          </a:prstGeom>
          <a:solidFill>
            <a:srgbClr val="004D33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A5C91F-B421-3E51-3080-23815487EEE4}"/>
              </a:ext>
            </a:extLst>
          </p:cNvPr>
          <p:cNvSpPr txBox="1"/>
          <p:nvPr/>
        </p:nvSpPr>
        <p:spPr>
          <a:xfrm>
            <a:off x="7785100" y="2019300"/>
            <a:ext cx="3492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CUSTOMER EXPERIENCE</a:t>
            </a:r>
            <a:endParaRPr lang="th-TH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F525C6-E9FD-F8E0-704A-3AC5CE29C4F5}"/>
              </a:ext>
            </a:extLst>
          </p:cNvPr>
          <p:cNvSpPr/>
          <p:nvPr/>
        </p:nvSpPr>
        <p:spPr>
          <a:xfrm>
            <a:off x="609600" y="2501900"/>
            <a:ext cx="3302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85DC68-70F5-5BB4-AB46-135738779B69}"/>
              </a:ext>
            </a:extLst>
          </p:cNvPr>
          <p:cNvSpPr txBox="1"/>
          <p:nvPr/>
        </p:nvSpPr>
        <p:spPr>
          <a:xfrm>
            <a:off x="736600" y="2527300"/>
            <a:ext cx="3048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>
                <a:solidFill>
                  <a:srgbClr val="10261D"/>
                </a:solidFill>
                <a:latin typeface="Aptos" panose="020B0004020202020204" pitchFamily="34" charset="0"/>
              </a:rPr>
              <a:t>Brand mapping exists</a:t>
            </a:r>
            <a:endParaRPr lang="th-TH" sz="11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0E79B2-0FE7-9A9F-2B19-CA57ADD3C31F}"/>
              </a:ext>
            </a:extLst>
          </p:cNvPr>
          <p:cNvSpPr/>
          <p:nvPr/>
        </p:nvSpPr>
        <p:spPr>
          <a:xfrm>
            <a:off x="3911600" y="2501900"/>
            <a:ext cx="3746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217A08-DDC8-EF24-EB12-5693555CD086}"/>
              </a:ext>
            </a:extLst>
          </p:cNvPr>
          <p:cNvSpPr txBox="1"/>
          <p:nvPr/>
        </p:nvSpPr>
        <p:spPr>
          <a:xfrm>
            <a:off x="4038600" y="2527300"/>
            <a:ext cx="3492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>
                <a:solidFill>
                  <a:srgbClr val="10261D"/>
                </a:solidFill>
                <a:latin typeface="Aptos" panose="020B0004020202020204" pitchFamily="34" charset="0"/>
              </a:rPr>
              <a:t>Use mapped ERP level</a:t>
            </a:r>
            <a:endParaRPr lang="th-TH" sz="11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F998CE-6F38-5D50-09E1-D72022ECBAFD}"/>
              </a:ext>
            </a:extLst>
          </p:cNvPr>
          <p:cNvSpPr/>
          <p:nvPr/>
        </p:nvSpPr>
        <p:spPr>
          <a:xfrm>
            <a:off x="7658100" y="2501900"/>
            <a:ext cx="3746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A7B711-16A7-18C6-188B-D38D421ACA89}"/>
              </a:ext>
            </a:extLst>
          </p:cNvPr>
          <p:cNvSpPr txBox="1"/>
          <p:nvPr/>
        </p:nvSpPr>
        <p:spPr>
          <a:xfrm>
            <a:off x="7785100" y="2527300"/>
            <a:ext cx="3492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 b="1">
                <a:solidFill>
                  <a:srgbClr val="0D7A4C"/>
                </a:solidFill>
                <a:latin typeface="Aptos" panose="020B0004020202020204" pitchFamily="34" charset="0"/>
              </a:rPr>
              <a:t>Correct brand price</a:t>
            </a:r>
            <a:endParaRPr lang="th-TH" sz="11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E07F23-BB0F-374A-D4DA-526E1B336A4E}"/>
              </a:ext>
            </a:extLst>
          </p:cNvPr>
          <p:cNvSpPr/>
          <p:nvPr/>
        </p:nvSpPr>
        <p:spPr>
          <a:xfrm>
            <a:off x="609600" y="3111500"/>
            <a:ext cx="3302000" cy="609600"/>
          </a:xfrm>
          <a:prstGeom prst="rect">
            <a:avLst/>
          </a:prstGeom>
          <a:solidFill>
            <a:srgbClr val="EFF9F3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5CF7D5-EF2D-13E5-00E6-5A2C7D4533FC}"/>
              </a:ext>
            </a:extLst>
          </p:cNvPr>
          <p:cNvSpPr txBox="1"/>
          <p:nvPr/>
        </p:nvSpPr>
        <p:spPr>
          <a:xfrm>
            <a:off x="736600" y="3136900"/>
            <a:ext cx="3048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>
                <a:solidFill>
                  <a:srgbClr val="10261D"/>
                </a:solidFill>
                <a:latin typeface="Aptos" panose="020B0004020202020204" pitchFamily="34" charset="0"/>
              </a:rPr>
              <a:t>Brand mapping missing</a:t>
            </a:r>
            <a:endParaRPr lang="th-TH" sz="11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4F84C2-3DDD-F3CA-464E-4AC5BEE04157}"/>
              </a:ext>
            </a:extLst>
          </p:cNvPr>
          <p:cNvSpPr/>
          <p:nvPr/>
        </p:nvSpPr>
        <p:spPr>
          <a:xfrm>
            <a:off x="3911600" y="3111500"/>
            <a:ext cx="3746500" cy="609600"/>
          </a:xfrm>
          <a:prstGeom prst="rect">
            <a:avLst/>
          </a:prstGeom>
          <a:solidFill>
            <a:srgbClr val="EFF9F3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DEAE93-57DE-C385-5EFD-C2EC68CF79CE}"/>
              </a:ext>
            </a:extLst>
          </p:cNvPr>
          <p:cNvSpPr txBox="1"/>
          <p:nvPr/>
        </p:nvSpPr>
        <p:spPr>
          <a:xfrm>
            <a:off x="4038600" y="3136900"/>
            <a:ext cx="3492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>
                <a:solidFill>
                  <a:srgbClr val="10261D"/>
                </a:solidFill>
                <a:latin typeface="Aptos" panose="020B0004020202020204" pitchFamily="34" charset="0"/>
              </a:rPr>
              <a:t>Use approved default mapping</a:t>
            </a:r>
            <a:endParaRPr lang="th-TH" sz="11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FAE475-BCF7-7A5F-EEDA-A64DB96126D1}"/>
              </a:ext>
            </a:extLst>
          </p:cNvPr>
          <p:cNvSpPr/>
          <p:nvPr/>
        </p:nvSpPr>
        <p:spPr>
          <a:xfrm>
            <a:off x="7658100" y="3111500"/>
            <a:ext cx="3746500" cy="609600"/>
          </a:xfrm>
          <a:prstGeom prst="rect">
            <a:avLst/>
          </a:prstGeom>
          <a:solidFill>
            <a:srgbClr val="EFF9F3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6E7BEA-1D7A-9DED-94FF-FCA138A2B3E7}"/>
              </a:ext>
            </a:extLst>
          </p:cNvPr>
          <p:cNvSpPr txBox="1"/>
          <p:nvPr/>
        </p:nvSpPr>
        <p:spPr>
          <a:xfrm>
            <a:off x="7785100" y="3136900"/>
            <a:ext cx="3492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 b="1">
                <a:solidFill>
                  <a:srgbClr val="0D7A4C"/>
                </a:solidFill>
                <a:latin typeface="Aptos" panose="020B0004020202020204" pitchFamily="34" charset="0"/>
              </a:rPr>
              <a:t>Default customer price</a:t>
            </a:r>
            <a:endParaRPr lang="th-TH" sz="11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3166D2-EA42-E8BE-ED8A-75A95C260614}"/>
              </a:ext>
            </a:extLst>
          </p:cNvPr>
          <p:cNvSpPr/>
          <p:nvPr/>
        </p:nvSpPr>
        <p:spPr>
          <a:xfrm>
            <a:off x="609600" y="3721100"/>
            <a:ext cx="3302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623D75-4BEB-6178-6863-07D37E5B9F33}"/>
              </a:ext>
            </a:extLst>
          </p:cNvPr>
          <p:cNvSpPr txBox="1"/>
          <p:nvPr/>
        </p:nvSpPr>
        <p:spPr>
          <a:xfrm>
            <a:off x="736600" y="3746500"/>
            <a:ext cx="3048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>
                <a:solidFill>
                  <a:srgbClr val="10261D"/>
                </a:solidFill>
                <a:latin typeface="Aptos" panose="020B0004020202020204" pitchFamily="34" charset="0"/>
              </a:rPr>
              <a:t>No safe mapping</a:t>
            </a:r>
            <a:endParaRPr lang="th-TH" sz="11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9326DA-1067-F98A-284A-940E7C3AF4FD}"/>
              </a:ext>
            </a:extLst>
          </p:cNvPr>
          <p:cNvSpPr/>
          <p:nvPr/>
        </p:nvSpPr>
        <p:spPr>
          <a:xfrm>
            <a:off x="3911600" y="3721100"/>
            <a:ext cx="3746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A5D7B2-BD61-C037-AB3C-7ED9D3697D8B}"/>
              </a:ext>
            </a:extLst>
          </p:cNvPr>
          <p:cNvSpPr txBox="1"/>
          <p:nvPr/>
        </p:nvSpPr>
        <p:spPr>
          <a:xfrm>
            <a:off x="4038600" y="3746500"/>
            <a:ext cx="3492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>
                <a:solidFill>
                  <a:srgbClr val="10261D"/>
                </a:solidFill>
                <a:latin typeface="Aptos" panose="020B0004020202020204" pitchFamily="34" charset="0"/>
              </a:rPr>
              <a:t>Return No Price</a:t>
            </a:r>
            <a:endParaRPr lang="th-TH" sz="11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18CF57-F2A1-2B2D-2FB0-6540BE2CA0E0}"/>
              </a:ext>
            </a:extLst>
          </p:cNvPr>
          <p:cNvSpPr/>
          <p:nvPr/>
        </p:nvSpPr>
        <p:spPr>
          <a:xfrm>
            <a:off x="7658100" y="3721100"/>
            <a:ext cx="3746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0A64D9-94F1-FDC7-EE66-2E27BE15889C}"/>
              </a:ext>
            </a:extLst>
          </p:cNvPr>
          <p:cNvSpPr txBox="1"/>
          <p:nvPr/>
        </p:nvSpPr>
        <p:spPr>
          <a:xfrm>
            <a:off x="7785100" y="3746500"/>
            <a:ext cx="3492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 b="1">
                <a:solidFill>
                  <a:srgbClr val="0D7A4C"/>
                </a:solidFill>
                <a:latin typeface="Aptos" panose="020B0004020202020204" pitchFamily="34" charset="0"/>
              </a:rPr>
              <a:t>Price is hidden</a:t>
            </a:r>
            <a:endParaRPr lang="th-TH" sz="11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BCBB61-2C46-0662-5AE1-19795F0D34C6}"/>
              </a:ext>
            </a:extLst>
          </p:cNvPr>
          <p:cNvSpPr/>
          <p:nvPr/>
        </p:nvSpPr>
        <p:spPr>
          <a:xfrm>
            <a:off x="609600" y="4330700"/>
            <a:ext cx="3302000" cy="609600"/>
          </a:xfrm>
          <a:prstGeom prst="rect">
            <a:avLst/>
          </a:prstGeom>
          <a:solidFill>
            <a:srgbClr val="EFF9F3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A6BF14-57F7-B62D-A4F1-F3058CD405AE}"/>
              </a:ext>
            </a:extLst>
          </p:cNvPr>
          <p:cNvSpPr txBox="1"/>
          <p:nvPr/>
        </p:nvSpPr>
        <p:spPr>
          <a:xfrm>
            <a:off x="736600" y="4356100"/>
            <a:ext cx="3048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>
                <a:solidFill>
                  <a:srgbClr val="10261D"/>
                </a:solidFill>
                <a:latin typeface="Aptos" panose="020B0004020202020204" pitchFamily="34" charset="0"/>
              </a:rPr>
              <a:t>No active promotion</a:t>
            </a:r>
            <a:endParaRPr lang="th-TH" sz="11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9D0AC17-558B-CE56-6568-DF5ED861AEE1}"/>
              </a:ext>
            </a:extLst>
          </p:cNvPr>
          <p:cNvSpPr/>
          <p:nvPr/>
        </p:nvSpPr>
        <p:spPr>
          <a:xfrm>
            <a:off x="3911600" y="4330700"/>
            <a:ext cx="3746500" cy="609600"/>
          </a:xfrm>
          <a:prstGeom prst="rect">
            <a:avLst/>
          </a:prstGeom>
          <a:solidFill>
            <a:srgbClr val="EFF9F3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4FE497-1405-7932-FD3F-9FD6A427CBAF}"/>
              </a:ext>
            </a:extLst>
          </p:cNvPr>
          <p:cNvSpPr txBox="1"/>
          <p:nvPr/>
        </p:nvSpPr>
        <p:spPr>
          <a:xfrm>
            <a:off x="4038600" y="4356100"/>
            <a:ext cx="3492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>
                <a:solidFill>
                  <a:srgbClr val="10261D"/>
                </a:solidFill>
                <a:latin typeface="Aptos" panose="020B0004020202020204" pitchFamily="34" charset="0"/>
              </a:rPr>
              <a:t>Keep mapped base price</a:t>
            </a:r>
            <a:endParaRPr lang="th-TH" sz="11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632767-1591-4D6A-581C-139D4756D0DE}"/>
              </a:ext>
            </a:extLst>
          </p:cNvPr>
          <p:cNvSpPr/>
          <p:nvPr/>
        </p:nvSpPr>
        <p:spPr>
          <a:xfrm>
            <a:off x="7658100" y="4330700"/>
            <a:ext cx="3746500" cy="609600"/>
          </a:xfrm>
          <a:prstGeom prst="rect">
            <a:avLst/>
          </a:prstGeom>
          <a:solidFill>
            <a:srgbClr val="EFF9F3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AC872E-5154-ACB8-6C9B-53958D969566}"/>
              </a:ext>
            </a:extLst>
          </p:cNvPr>
          <p:cNvSpPr txBox="1"/>
          <p:nvPr/>
        </p:nvSpPr>
        <p:spPr>
          <a:xfrm>
            <a:off x="7785100" y="4356100"/>
            <a:ext cx="3492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 b="1">
                <a:solidFill>
                  <a:srgbClr val="0D7A4C"/>
                </a:solidFill>
                <a:latin typeface="Aptos" panose="020B0004020202020204" pitchFamily="34" charset="0"/>
              </a:rPr>
              <a:t>Normal account price</a:t>
            </a:r>
            <a:endParaRPr lang="th-TH" sz="11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4E4F4E4-3497-B072-EE24-99FF5471ED86}"/>
              </a:ext>
            </a:extLst>
          </p:cNvPr>
          <p:cNvSpPr/>
          <p:nvPr/>
        </p:nvSpPr>
        <p:spPr>
          <a:xfrm>
            <a:off x="609600" y="4940300"/>
            <a:ext cx="3302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60C229-C627-E9BC-0F2B-210F408DA97F}"/>
              </a:ext>
            </a:extLst>
          </p:cNvPr>
          <p:cNvSpPr txBox="1"/>
          <p:nvPr/>
        </p:nvSpPr>
        <p:spPr>
          <a:xfrm>
            <a:off x="736600" y="4965700"/>
            <a:ext cx="3048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>
                <a:solidFill>
                  <a:srgbClr val="10261D"/>
                </a:solidFill>
                <a:latin typeface="Aptos" panose="020B0004020202020204" pitchFamily="34" charset="0"/>
              </a:rPr>
              <a:t>Expired/revoked access</a:t>
            </a:r>
            <a:endParaRPr lang="th-TH" sz="11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5EE1204-F96E-6E5B-34A0-C23A50DCAD8B}"/>
              </a:ext>
            </a:extLst>
          </p:cNvPr>
          <p:cNvSpPr/>
          <p:nvPr/>
        </p:nvSpPr>
        <p:spPr>
          <a:xfrm>
            <a:off x="3911600" y="4940300"/>
            <a:ext cx="3746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670CC4-602D-0C83-CACF-C91B58577377}"/>
              </a:ext>
            </a:extLst>
          </p:cNvPr>
          <p:cNvSpPr txBox="1"/>
          <p:nvPr/>
        </p:nvSpPr>
        <p:spPr>
          <a:xfrm>
            <a:off x="4038600" y="4965700"/>
            <a:ext cx="3492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>
                <a:solidFill>
                  <a:srgbClr val="10261D"/>
                </a:solidFill>
                <a:latin typeface="Aptos" panose="020B0004020202020204" pitchFamily="34" charset="0"/>
              </a:rPr>
              <a:t>Reject request</a:t>
            </a:r>
            <a:endParaRPr lang="th-TH" sz="1100">
              <a:solidFill>
                <a:srgbClr val="10261D"/>
              </a:solidFill>
              <a:latin typeface="Aptos" panose="020B00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2FDB787-2F9E-7DBB-A187-FD6587753FB4}"/>
              </a:ext>
            </a:extLst>
          </p:cNvPr>
          <p:cNvSpPr/>
          <p:nvPr/>
        </p:nvSpPr>
        <p:spPr>
          <a:xfrm>
            <a:off x="7658100" y="4940300"/>
            <a:ext cx="3746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E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583C8C-A221-25E1-1761-6DBE5E60A476}"/>
              </a:ext>
            </a:extLst>
          </p:cNvPr>
          <p:cNvSpPr txBox="1"/>
          <p:nvPr/>
        </p:nvSpPr>
        <p:spPr>
          <a:xfrm>
            <a:off x="7785100" y="4965700"/>
            <a:ext cx="34925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GB" sz="1100" b="1">
                <a:solidFill>
                  <a:srgbClr val="0D7A4C"/>
                </a:solidFill>
                <a:latin typeface="Aptos" panose="020B0004020202020204" pitchFamily="34" charset="0"/>
              </a:rPr>
              <a:t>Ask administrator for access</a:t>
            </a:r>
            <a:endParaRPr lang="th-TH" sz="1100" b="1">
              <a:solidFill>
                <a:srgbClr val="0D7A4C"/>
              </a:solidFill>
              <a:latin typeface="Aptos" panose="020B0004020202020204" pitchFamily="34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FC6C4A9-DB9C-9B81-4644-8599BF2937D1}"/>
              </a:ext>
            </a:extLst>
          </p:cNvPr>
          <p:cNvSpPr/>
          <p:nvPr/>
        </p:nvSpPr>
        <p:spPr>
          <a:xfrm>
            <a:off x="609600" y="5816600"/>
            <a:ext cx="10795000" cy="469900"/>
          </a:xfrm>
          <a:prstGeom prst="roundRect">
            <a:avLst/>
          </a:prstGeom>
          <a:solidFill>
            <a:srgbClr val="DDF3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060A01-BAC8-8D08-E3A8-B8D4FF13E37B}"/>
              </a:ext>
            </a:extLst>
          </p:cNvPr>
          <p:cNvSpPr txBox="1"/>
          <p:nvPr/>
        </p:nvSpPr>
        <p:spPr>
          <a:xfrm>
            <a:off x="812800" y="5918200"/>
            <a:ext cx="103886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200" b="1">
                <a:solidFill>
                  <a:srgbClr val="004D33"/>
                </a:solidFill>
                <a:latin typeface="Aptos" panose="020B0004020202020204" pitchFamily="34" charset="0"/>
              </a:rPr>
              <a:t>Rule: never guess a price and never expose another customer's pricing profile.</a:t>
            </a:r>
            <a:endParaRPr lang="th-TH" sz="1200" b="1">
              <a:solidFill>
                <a:srgbClr val="004D3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451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7220F1-A09F-CE98-A2A5-3BFD6F467D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D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9665AD9-ED1D-79C6-F53E-42FF72652547}"/>
              </a:ext>
            </a:extLst>
          </p:cNvPr>
          <p:cNvSpPr/>
          <p:nvPr/>
        </p:nvSpPr>
        <p:spPr>
          <a:xfrm>
            <a:off x="685800" y="546100"/>
            <a:ext cx="2413000" cy="317500"/>
          </a:xfrm>
          <a:prstGeom prst="roundRect">
            <a:avLst/>
          </a:prstGeom>
          <a:solidFill>
            <a:srgbClr val="DDF3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8984FB-B509-B9D4-4E30-B428946AFB35}"/>
              </a:ext>
            </a:extLst>
          </p:cNvPr>
          <p:cNvSpPr txBox="1"/>
          <p:nvPr/>
        </p:nvSpPr>
        <p:spPr>
          <a:xfrm>
            <a:off x="787400" y="558800"/>
            <a:ext cx="22098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GB" sz="1000" b="1">
                <a:solidFill>
                  <a:srgbClr val="004D33"/>
                </a:solidFill>
                <a:latin typeface="Aptos" panose="020B0004020202020204" pitchFamily="34" charset="0"/>
              </a:rPr>
              <a:t>IMPLEMENTATION CHECKLIST</a:t>
            </a:r>
            <a:endParaRPr lang="th-TH" sz="1000" b="1">
              <a:solidFill>
                <a:srgbClr val="004D33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CF66-BAAE-9510-1D2C-0C21C3C60A21}"/>
              </a:ext>
            </a:extLst>
          </p:cNvPr>
          <p:cNvSpPr txBox="1"/>
          <p:nvPr/>
        </p:nvSpPr>
        <p:spPr>
          <a:xfrm>
            <a:off x="685800" y="1193800"/>
            <a:ext cx="8382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3100" b="1">
                <a:solidFill>
                  <a:srgbClr val="FFFFFF"/>
                </a:solidFill>
                <a:latin typeface="Aptos" panose="020B0004020202020204" pitchFamily="34" charset="0"/>
              </a:rPr>
              <a:t>Ready for customer rollout</a:t>
            </a:r>
            <a:endParaRPr lang="th-TH" sz="3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43A06F-A420-3FD6-4FCF-3F1B9CFFC41E}"/>
              </a:ext>
            </a:extLst>
          </p:cNvPr>
          <p:cNvSpPr txBox="1"/>
          <p:nvPr/>
        </p:nvSpPr>
        <p:spPr>
          <a:xfrm>
            <a:off x="685800" y="1917700"/>
            <a:ext cx="889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DDF3E7"/>
                </a:solidFill>
                <a:latin typeface="Aptos" panose="020B0004020202020204" pitchFamily="34" charset="0"/>
              </a:rPr>
              <a:t>Validate the complete journey with one real customer profile before launch.</a:t>
            </a:r>
            <a:endParaRPr lang="th-TH" sz="1600">
              <a:solidFill>
                <a:srgbClr val="DDF3E7"/>
              </a:solidFill>
              <a:latin typeface="Aptos" panose="020B00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D197AE-BAE9-5E26-FDCD-813E39A2B93F}"/>
              </a:ext>
            </a:extLst>
          </p:cNvPr>
          <p:cNvSpPr/>
          <p:nvPr/>
        </p:nvSpPr>
        <p:spPr>
          <a:xfrm>
            <a:off x="685800" y="2819400"/>
            <a:ext cx="381000" cy="381000"/>
          </a:xfrm>
          <a:prstGeom prst="ellipse">
            <a:avLst/>
          </a:prstGeom>
          <a:solidFill>
            <a:srgbClr val="DDF3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64D0C2-220E-3B52-B96A-4484D35B28A4}"/>
              </a:ext>
            </a:extLst>
          </p:cNvPr>
          <p:cNvSpPr txBox="1"/>
          <p:nvPr/>
        </p:nvSpPr>
        <p:spPr>
          <a:xfrm>
            <a:off x="685800" y="28194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GB" sz="1100" b="1">
                <a:solidFill>
                  <a:srgbClr val="004D33"/>
                </a:solidFill>
                <a:latin typeface="Aptos" panose="020B0004020202020204" pitchFamily="34" charset="0"/>
              </a:rPr>
              <a:t>OK</a:t>
            </a:r>
            <a:endParaRPr lang="th-TH" sz="1100" b="1">
              <a:solidFill>
                <a:srgbClr val="004D33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8A231C-D0E4-2EA6-D4EB-059640F4A609}"/>
              </a:ext>
            </a:extLst>
          </p:cNvPr>
          <p:cNvSpPr txBox="1"/>
          <p:nvPr/>
        </p:nvSpPr>
        <p:spPr>
          <a:xfrm>
            <a:off x="1257300" y="2794000"/>
            <a:ext cx="444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Customer Account login routes to /customer</a:t>
            </a:r>
            <a:endParaRPr lang="th-TH" sz="1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D4032EB-CCCA-E548-0403-F883D4A0422F}"/>
              </a:ext>
            </a:extLst>
          </p:cNvPr>
          <p:cNvSpPr/>
          <p:nvPr/>
        </p:nvSpPr>
        <p:spPr>
          <a:xfrm>
            <a:off x="6083300" y="2819400"/>
            <a:ext cx="381000" cy="381000"/>
          </a:xfrm>
          <a:prstGeom prst="ellipse">
            <a:avLst/>
          </a:prstGeom>
          <a:solidFill>
            <a:srgbClr val="DDF3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3F9B82-52BC-469A-5F85-9668BD7BA670}"/>
              </a:ext>
            </a:extLst>
          </p:cNvPr>
          <p:cNvSpPr txBox="1"/>
          <p:nvPr/>
        </p:nvSpPr>
        <p:spPr>
          <a:xfrm>
            <a:off x="6083300" y="28194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GB" sz="1100" b="1">
                <a:solidFill>
                  <a:srgbClr val="004D33"/>
                </a:solidFill>
                <a:latin typeface="Aptos" panose="020B0004020202020204" pitchFamily="34" charset="0"/>
              </a:rPr>
              <a:t>OK</a:t>
            </a:r>
            <a:endParaRPr lang="th-TH" sz="1100" b="1">
              <a:solidFill>
                <a:srgbClr val="004D33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40DCD1-3E84-D196-4014-8407D90B5426}"/>
              </a:ext>
            </a:extLst>
          </p:cNvPr>
          <p:cNvSpPr txBox="1"/>
          <p:nvPr/>
        </p:nvSpPr>
        <p:spPr>
          <a:xfrm>
            <a:off x="6654800" y="2794000"/>
            <a:ext cx="444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Unique access code resolves the correct profile</a:t>
            </a:r>
            <a:endParaRPr lang="th-TH" sz="1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9C6BBA0-9687-FCA4-B0F9-53AB76073600}"/>
              </a:ext>
            </a:extLst>
          </p:cNvPr>
          <p:cNvSpPr/>
          <p:nvPr/>
        </p:nvSpPr>
        <p:spPr>
          <a:xfrm>
            <a:off x="685800" y="3784600"/>
            <a:ext cx="381000" cy="381000"/>
          </a:xfrm>
          <a:prstGeom prst="ellipse">
            <a:avLst/>
          </a:prstGeom>
          <a:solidFill>
            <a:srgbClr val="DDF3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2619E6-07CB-1D1F-F6EE-8A8947BE36E8}"/>
              </a:ext>
            </a:extLst>
          </p:cNvPr>
          <p:cNvSpPr txBox="1"/>
          <p:nvPr/>
        </p:nvSpPr>
        <p:spPr>
          <a:xfrm>
            <a:off x="685800" y="37846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GB" sz="1100" b="1">
                <a:solidFill>
                  <a:srgbClr val="004D33"/>
                </a:solidFill>
                <a:latin typeface="Aptos" panose="020B0004020202020204" pitchFamily="34" charset="0"/>
              </a:rPr>
              <a:t>OK</a:t>
            </a:r>
            <a:endParaRPr lang="th-TH" sz="1100" b="1">
              <a:solidFill>
                <a:srgbClr val="004D33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164C43-705A-BBE4-D79F-FD289C61EA4C}"/>
              </a:ext>
            </a:extLst>
          </p:cNvPr>
          <p:cNvSpPr txBox="1"/>
          <p:nvPr/>
        </p:nvSpPr>
        <p:spPr>
          <a:xfrm>
            <a:off x="1257300" y="3759200"/>
            <a:ext cx="444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Only published catalogues are visible</a:t>
            </a:r>
            <a:endParaRPr lang="th-TH" sz="1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05EBA78-05FA-B958-B20D-F44431AC1D89}"/>
              </a:ext>
            </a:extLst>
          </p:cNvPr>
          <p:cNvSpPr/>
          <p:nvPr/>
        </p:nvSpPr>
        <p:spPr>
          <a:xfrm>
            <a:off x="6083300" y="3784600"/>
            <a:ext cx="381000" cy="381000"/>
          </a:xfrm>
          <a:prstGeom prst="ellipse">
            <a:avLst/>
          </a:prstGeom>
          <a:solidFill>
            <a:srgbClr val="DDF3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560D5F-011B-C847-C9CB-683223CBF2D3}"/>
              </a:ext>
            </a:extLst>
          </p:cNvPr>
          <p:cNvSpPr txBox="1"/>
          <p:nvPr/>
        </p:nvSpPr>
        <p:spPr>
          <a:xfrm>
            <a:off x="6083300" y="37846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GB" sz="1100" b="1">
                <a:solidFill>
                  <a:srgbClr val="004D33"/>
                </a:solidFill>
                <a:latin typeface="Aptos" panose="020B0004020202020204" pitchFamily="34" charset="0"/>
              </a:rPr>
              <a:t>OK</a:t>
            </a:r>
            <a:endParaRPr lang="th-TH" sz="1100" b="1">
              <a:solidFill>
                <a:srgbClr val="004D33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9A8FB3-C5D3-8ADB-767E-453218D758EA}"/>
              </a:ext>
            </a:extLst>
          </p:cNvPr>
          <p:cNvSpPr txBox="1"/>
          <p:nvPr/>
        </p:nvSpPr>
        <p:spPr>
          <a:xfrm>
            <a:off x="6654800" y="3759200"/>
            <a:ext cx="444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Multi-brand prices match ERP mappings</a:t>
            </a:r>
            <a:endParaRPr lang="th-TH" sz="1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96DB10C-DAF5-D17B-E3E8-EFB9BB56116E}"/>
              </a:ext>
            </a:extLst>
          </p:cNvPr>
          <p:cNvSpPr/>
          <p:nvPr/>
        </p:nvSpPr>
        <p:spPr>
          <a:xfrm>
            <a:off x="685800" y="4749800"/>
            <a:ext cx="381000" cy="381000"/>
          </a:xfrm>
          <a:prstGeom prst="ellipse">
            <a:avLst/>
          </a:prstGeom>
          <a:solidFill>
            <a:srgbClr val="DDF3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372BF4-5983-80DA-E93D-0A7BBD3C20E6}"/>
              </a:ext>
            </a:extLst>
          </p:cNvPr>
          <p:cNvSpPr txBox="1"/>
          <p:nvPr/>
        </p:nvSpPr>
        <p:spPr>
          <a:xfrm>
            <a:off x="685800" y="47498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GB" sz="1100" b="1">
                <a:solidFill>
                  <a:srgbClr val="004D33"/>
                </a:solidFill>
                <a:latin typeface="Aptos" panose="020B0004020202020204" pitchFamily="34" charset="0"/>
              </a:rPr>
              <a:t>OK</a:t>
            </a:r>
            <a:endParaRPr lang="th-TH" sz="1100" b="1">
              <a:solidFill>
                <a:srgbClr val="004D33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B238CD-1F69-4BCF-BC97-76EE462DDB5C}"/>
              </a:ext>
            </a:extLst>
          </p:cNvPr>
          <p:cNvSpPr txBox="1"/>
          <p:nvPr/>
        </p:nvSpPr>
        <p:spPr>
          <a:xfrm>
            <a:off x="1257300" y="4724400"/>
            <a:ext cx="444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Eligible promotions produce the expected final price</a:t>
            </a:r>
            <a:endParaRPr lang="th-TH" sz="1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C0F6D99-9443-1743-8DD4-5D0803EFEBAB}"/>
              </a:ext>
            </a:extLst>
          </p:cNvPr>
          <p:cNvSpPr/>
          <p:nvPr/>
        </p:nvSpPr>
        <p:spPr>
          <a:xfrm>
            <a:off x="6083300" y="4749800"/>
            <a:ext cx="381000" cy="381000"/>
          </a:xfrm>
          <a:prstGeom prst="ellipse">
            <a:avLst/>
          </a:prstGeom>
          <a:solidFill>
            <a:srgbClr val="DDF3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72342A-68DB-3D7D-65A8-D92A24BA7FF0}"/>
              </a:ext>
            </a:extLst>
          </p:cNvPr>
          <p:cNvSpPr txBox="1"/>
          <p:nvPr/>
        </p:nvSpPr>
        <p:spPr>
          <a:xfrm>
            <a:off x="6083300" y="4749800"/>
            <a:ext cx="381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GB" sz="1100" b="1">
                <a:solidFill>
                  <a:srgbClr val="004D33"/>
                </a:solidFill>
                <a:latin typeface="Aptos" panose="020B0004020202020204" pitchFamily="34" charset="0"/>
              </a:rPr>
              <a:t>OK</a:t>
            </a:r>
            <a:endParaRPr lang="th-TH" sz="1100" b="1">
              <a:solidFill>
                <a:srgbClr val="004D33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4AC9A4-C806-C863-E716-DCF2053EB0E6}"/>
              </a:ext>
            </a:extLst>
          </p:cNvPr>
          <p:cNvSpPr txBox="1"/>
          <p:nvPr/>
        </p:nvSpPr>
        <p:spPr>
          <a:xfrm>
            <a:off x="6654800" y="4724400"/>
            <a:ext cx="4445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Browser view and PDF show the same complete content</a:t>
            </a:r>
            <a:endParaRPr lang="th-TH" sz="1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887172-D2F5-1DB0-69E4-EE394F40EC0E}"/>
              </a:ext>
            </a:extLst>
          </p:cNvPr>
          <p:cNvSpPr txBox="1"/>
          <p:nvPr/>
        </p:nvSpPr>
        <p:spPr>
          <a:xfrm>
            <a:off x="685800" y="62357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sz="1100" b="1">
                <a:solidFill>
                  <a:srgbClr val="DDF3E7"/>
                </a:solidFill>
                <a:latin typeface="Aptos" panose="020B0004020202020204" pitchFamily="34" charset="0"/>
              </a:rPr>
              <a:t>GMS Catalogue Platform</a:t>
            </a:r>
            <a:endParaRPr lang="th-TH" sz="1100" b="1">
              <a:solidFill>
                <a:srgbClr val="DDF3E7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0CAC4A-E031-9AC0-8D35-F195ED2CCCC2}"/>
              </a:ext>
            </a:extLst>
          </p:cNvPr>
          <p:cNvSpPr txBox="1"/>
          <p:nvPr/>
        </p:nvSpPr>
        <p:spPr>
          <a:xfrm>
            <a:off x="7747000" y="6235700"/>
            <a:ext cx="3759200" cy="43088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100" b="1">
                <a:solidFill>
                  <a:srgbClr val="DDF3E7"/>
                </a:solidFill>
                <a:latin typeface="Aptos" panose="020B0004020202020204" pitchFamily="34" charset="0"/>
              </a:rPr>
              <a:t>Customer Portal - Step by Step</a:t>
            </a:r>
            <a:endParaRPr lang="th-TH" sz="1100" b="1">
              <a:solidFill>
                <a:srgbClr val="DDF3E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459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1159</Words>
  <Application>Microsoft Office PowerPoint</Application>
  <PresentationFormat>Custom</PresentationFormat>
  <Paragraphs>271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Thanawat Khanijomdi (Hans)</dc:creator>
  <cp:lastModifiedBy>Thanawat Khanijomdi (Hans)</cp:lastModifiedBy>
  <cp:revision>1</cp:revision>
  <dcterms:created xsi:type="dcterms:W3CDTF">2026-09-09T07:26:05Z</dcterms:created>
  <dcterms:modified xsi:type="dcterms:W3CDTF">2026-09-09T07:26:05Z</dcterms:modified>
</cp:coreProperties>
</file>